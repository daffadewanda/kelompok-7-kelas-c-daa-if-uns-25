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embeddedFontLst>
    <p:embeddedFont>
      <p:font typeface="Open Sans" panose="020B0606030504020204" pitchFamily="34" charset="0"/>
      <p:regular r:id="rId21"/>
    </p:embeddedFont>
    <p:embeddedFont>
      <p:font typeface="Open Sans Bold" panose="020B0604020202020204" charset="0"/>
      <p:regular r:id="rId22"/>
    </p:embeddedFont>
    <p:embeddedFont>
      <p:font typeface="Open Sans Italics" panose="020B0604020202020204" charset="0"/>
      <p:regular r:id="rId23"/>
    </p:embeddedFont>
    <p:embeddedFont>
      <p:font typeface="Telegraf" panose="020B0604020202020204" charset="0"/>
      <p:regular r:id="rId24"/>
    </p:embeddedFont>
    <p:embeddedFont>
      <p:font typeface="Telegraf Bold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61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2.sv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4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8.svg"/><Relationship Id="rId7" Type="http://schemas.openxmlformats.org/officeDocument/2006/relationships/image" Target="../media/image4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22.png"/><Relationship Id="rId5" Type="http://schemas.openxmlformats.org/officeDocument/2006/relationships/image" Target="../media/image12.svg"/><Relationship Id="rId10" Type="http://schemas.openxmlformats.org/officeDocument/2006/relationships/image" Target="../media/image21.png"/><Relationship Id="rId4" Type="http://schemas.openxmlformats.org/officeDocument/2006/relationships/image" Target="../media/image11.pn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svg"/><Relationship Id="rId7" Type="http://schemas.openxmlformats.org/officeDocument/2006/relationships/image" Target="../media/image4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4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8.svg"/><Relationship Id="rId7" Type="http://schemas.openxmlformats.org/officeDocument/2006/relationships/image" Target="../media/image4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8.svg"/><Relationship Id="rId7" Type="http://schemas.openxmlformats.org/officeDocument/2006/relationships/image" Target="../media/image4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4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7.svg"/><Relationship Id="rId7" Type="http://schemas.openxmlformats.org/officeDocument/2006/relationships/image" Target="../media/image4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7.svg"/><Relationship Id="rId7" Type="http://schemas.openxmlformats.org/officeDocument/2006/relationships/image" Target="../media/image4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33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33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6676">
                <a:alpha val="100000"/>
              </a:srgbClr>
            </a:gs>
            <a:gs pos="100000">
              <a:srgbClr val="72BD51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41148" y="0"/>
            <a:ext cx="15245704" cy="9258300"/>
          </a:xfrm>
          <a:custGeom>
            <a:avLst/>
            <a:gdLst/>
            <a:ahLst/>
            <a:cxnLst/>
            <a:rect l="l" t="t" r="r" b="b"/>
            <a:pathLst>
              <a:path w="15245704" h="9258300">
                <a:moveTo>
                  <a:pt x="0" y="0"/>
                </a:moveTo>
                <a:lnTo>
                  <a:pt x="15245704" y="0"/>
                </a:lnTo>
                <a:lnTo>
                  <a:pt x="1524570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2428875" y="2572377"/>
            <a:ext cx="12954176" cy="7866718"/>
          </a:xfrm>
          <a:custGeom>
            <a:avLst/>
            <a:gdLst/>
            <a:ahLst/>
            <a:cxnLst/>
            <a:rect l="l" t="t" r="r" b="b"/>
            <a:pathLst>
              <a:path w="12954176" h="7866718">
                <a:moveTo>
                  <a:pt x="0" y="0"/>
                </a:moveTo>
                <a:lnTo>
                  <a:pt x="12954176" y="0"/>
                </a:lnTo>
                <a:lnTo>
                  <a:pt x="12954176" y="7866718"/>
                </a:lnTo>
                <a:lnTo>
                  <a:pt x="0" y="78667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0125" y="8328433"/>
            <a:ext cx="632812" cy="632812"/>
          </a:xfrm>
          <a:custGeom>
            <a:avLst/>
            <a:gdLst/>
            <a:ahLst/>
            <a:cxnLst/>
            <a:rect l="l" t="t" r="r" b="b"/>
            <a:pathLst>
              <a:path w="632812" h="632812">
                <a:moveTo>
                  <a:pt x="0" y="0"/>
                </a:moveTo>
                <a:lnTo>
                  <a:pt x="632813" y="0"/>
                </a:lnTo>
                <a:lnTo>
                  <a:pt x="632813" y="632813"/>
                </a:lnTo>
                <a:lnTo>
                  <a:pt x="0" y="6328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09700" y="1062567"/>
            <a:ext cx="497056" cy="495174"/>
          </a:xfrm>
          <a:custGeom>
            <a:avLst/>
            <a:gdLst/>
            <a:ahLst/>
            <a:cxnLst/>
            <a:rect l="l" t="t" r="r" b="b"/>
            <a:pathLst>
              <a:path w="497056" h="495174">
                <a:moveTo>
                  <a:pt x="0" y="0"/>
                </a:moveTo>
                <a:lnTo>
                  <a:pt x="497056" y="0"/>
                </a:lnTo>
                <a:lnTo>
                  <a:pt x="497056" y="495173"/>
                </a:lnTo>
                <a:lnTo>
                  <a:pt x="0" y="4951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409700" y="3152470"/>
            <a:ext cx="9655124" cy="3378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01"/>
              </a:lnSpc>
            </a:pPr>
            <a:r>
              <a:rPr lang="en-US" sz="14024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Projek DAA 2025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356525" y="3409950"/>
            <a:ext cx="4369560" cy="2957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Analisis Komparatif </a:t>
            </a:r>
            <a:r>
              <a:rPr lang="en-US" sz="2800" i="1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Algoritma Shortest Path</a:t>
            </a:r>
            <a:r>
              <a:rPr lang="en-US" sz="2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dan </a:t>
            </a:r>
            <a:r>
              <a:rPr lang="en-US" sz="2800" i="1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Bottleneck Path</a:t>
            </a:r>
            <a:r>
              <a:rPr lang="en-US" sz="2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(</a:t>
            </a:r>
            <a:r>
              <a:rPr lang="en-US" sz="2800" i="1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Max-Min</a:t>
            </a:r>
            <a:r>
              <a:rPr lang="en-US" sz="2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) dalam Optimasi </a:t>
            </a:r>
            <a:r>
              <a:rPr lang="en-US" sz="2800" i="1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Throughput</a:t>
            </a:r>
            <a:r>
              <a:rPr lang="en-US" sz="2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Jaringan Komputer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356525" y="8161146"/>
            <a:ext cx="2677201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Disusun oleh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356525" y="8542146"/>
            <a:ext cx="3639510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Kelompok 7 Informatika Kelas C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97256" y="1072092"/>
            <a:ext cx="1950957" cy="538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6"/>
              </a:lnSpc>
            </a:pPr>
            <a:r>
              <a:rPr lang="en-US" sz="1516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Universitas</a:t>
            </a:r>
          </a:p>
          <a:p>
            <a:pPr algn="l">
              <a:lnSpc>
                <a:spcPts val="1516"/>
              </a:lnSpc>
            </a:pPr>
            <a:r>
              <a:rPr lang="en-US" sz="1516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Sebelas Maret</a:t>
            </a:r>
          </a:p>
          <a:p>
            <a:pPr algn="l">
              <a:lnSpc>
                <a:spcPts val="1116"/>
              </a:lnSpc>
            </a:pPr>
            <a:r>
              <a:rPr lang="en-US" sz="1116" spc="56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SURAKARTA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6676">
                <a:alpha val="100000"/>
              </a:srgbClr>
            </a:gs>
            <a:gs pos="100000">
              <a:srgbClr val="72BD51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41148" y="0"/>
            <a:ext cx="15245704" cy="9258300"/>
          </a:xfrm>
          <a:custGeom>
            <a:avLst/>
            <a:gdLst/>
            <a:ahLst/>
            <a:cxnLst/>
            <a:rect l="l" t="t" r="r" b="b"/>
            <a:pathLst>
              <a:path w="15245704" h="9258300">
                <a:moveTo>
                  <a:pt x="0" y="0"/>
                </a:moveTo>
                <a:lnTo>
                  <a:pt x="15245704" y="0"/>
                </a:lnTo>
                <a:lnTo>
                  <a:pt x="1524570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2428875" y="2572377"/>
            <a:ext cx="12954176" cy="7866718"/>
          </a:xfrm>
          <a:custGeom>
            <a:avLst/>
            <a:gdLst/>
            <a:ahLst/>
            <a:cxnLst/>
            <a:rect l="l" t="t" r="r" b="b"/>
            <a:pathLst>
              <a:path w="12954176" h="7866718">
                <a:moveTo>
                  <a:pt x="0" y="0"/>
                </a:moveTo>
                <a:lnTo>
                  <a:pt x="12954176" y="0"/>
                </a:lnTo>
                <a:lnTo>
                  <a:pt x="12954176" y="7866718"/>
                </a:lnTo>
                <a:lnTo>
                  <a:pt x="0" y="78667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0125" y="8328433"/>
            <a:ext cx="632812" cy="632812"/>
          </a:xfrm>
          <a:custGeom>
            <a:avLst/>
            <a:gdLst/>
            <a:ahLst/>
            <a:cxnLst/>
            <a:rect l="l" t="t" r="r" b="b"/>
            <a:pathLst>
              <a:path w="632812" h="632812">
                <a:moveTo>
                  <a:pt x="0" y="0"/>
                </a:moveTo>
                <a:lnTo>
                  <a:pt x="632813" y="0"/>
                </a:lnTo>
                <a:lnTo>
                  <a:pt x="632813" y="632813"/>
                </a:lnTo>
                <a:lnTo>
                  <a:pt x="0" y="6328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09700" y="1062567"/>
            <a:ext cx="497056" cy="495174"/>
          </a:xfrm>
          <a:custGeom>
            <a:avLst/>
            <a:gdLst/>
            <a:ahLst/>
            <a:cxnLst/>
            <a:rect l="l" t="t" r="r" b="b"/>
            <a:pathLst>
              <a:path w="497056" h="495174">
                <a:moveTo>
                  <a:pt x="0" y="0"/>
                </a:moveTo>
                <a:lnTo>
                  <a:pt x="497056" y="0"/>
                </a:lnTo>
                <a:lnTo>
                  <a:pt x="497056" y="495173"/>
                </a:lnTo>
                <a:lnTo>
                  <a:pt x="0" y="4951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409700" y="3152470"/>
            <a:ext cx="9655124" cy="3378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01"/>
              </a:lnSpc>
            </a:pPr>
            <a:r>
              <a:rPr lang="en-US" sz="14024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Projek DAA 2025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282913" y="2247595"/>
            <a:ext cx="2677201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Disusun oleh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282913" y="2628595"/>
            <a:ext cx="4976387" cy="502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Kelompok 7</a:t>
            </a:r>
          </a:p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Informatika Kelas C</a:t>
            </a:r>
          </a:p>
          <a:p>
            <a:pPr algn="l">
              <a:lnSpc>
                <a:spcPts val="3360"/>
              </a:lnSpc>
            </a:pPr>
            <a:endParaRPr lang="en-US" sz="2800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604521" lvl="1" indent="-302261" algn="l">
              <a:lnSpc>
                <a:spcPts val="3360"/>
              </a:lnSpc>
              <a:buAutoNum type="arabicPeriod"/>
            </a:pPr>
            <a:r>
              <a:rPr lang="en-US" sz="2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Ariwata Alfajri (L0124088)</a:t>
            </a:r>
          </a:p>
          <a:p>
            <a:pPr marL="604521" lvl="1" indent="-302261" algn="l">
              <a:lnSpc>
                <a:spcPts val="3360"/>
              </a:lnSpc>
              <a:buAutoNum type="arabicPeriod"/>
            </a:pPr>
            <a:r>
              <a:rPr lang="en-US" sz="2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Azzaral Aswad Asshiddiqy (L0124090)</a:t>
            </a:r>
          </a:p>
          <a:p>
            <a:pPr marL="604521" lvl="1" indent="-302261" algn="l">
              <a:lnSpc>
                <a:spcPts val="3360"/>
              </a:lnSpc>
              <a:buAutoNum type="arabicPeriod"/>
            </a:pPr>
            <a:r>
              <a:rPr lang="en-US" sz="2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Bintang A’raaf Stevan Putra (L0124091)</a:t>
            </a:r>
          </a:p>
          <a:p>
            <a:pPr marL="604521" lvl="1" indent="-302261" algn="l">
              <a:lnSpc>
                <a:spcPts val="3360"/>
              </a:lnSpc>
              <a:buAutoNum type="arabicPeriod"/>
            </a:pPr>
            <a:r>
              <a:rPr lang="en-US" sz="2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Daffa Dewanda Putra (L0124094)</a:t>
            </a:r>
          </a:p>
          <a:p>
            <a:pPr marL="604521" lvl="1" indent="-302261" algn="l">
              <a:lnSpc>
                <a:spcPts val="3360"/>
              </a:lnSpc>
              <a:buAutoNum type="arabicPeriod"/>
            </a:pPr>
            <a:r>
              <a:rPr lang="en-US" sz="2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Dzaky Ghiffary Susilo (L0124097)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97256" y="1072092"/>
            <a:ext cx="1950957" cy="538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6"/>
              </a:lnSpc>
            </a:pPr>
            <a:r>
              <a:rPr lang="en-US" sz="1516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Universitas</a:t>
            </a:r>
          </a:p>
          <a:p>
            <a:pPr algn="l">
              <a:lnSpc>
                <a:spcPts val="1516"/>
              </a:lnSpc>
            </a:pPr>
            <a:r>
              <a:rPr lang="en-US" sz="1516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Sebelas Maret</a:t>
            </a:r>
          </a:p>
          <a:p>
            <a:pPr algn="l">
              <a:lnSpc>
                <a:spcPts val="1116"/>
              </a:lnSpc>
            </a:pPr>
            <a:r>
              <a:rPr lang="en-US" sz="1116" spc="56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SURAKARTA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6676">
                <a:alpha val="100000"/>
              </a:srgbClr>
            </a:gs>
            <a:gs pos="100000">
              <a:srgbClr val="72BD51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9306193" y="1866704"/>
            <a:ext cx="13865756" cy="8420296"/>
          </a:xfrm>
          <a:custGeom>
            <a:avLst/>
            <a:gdLst/>
            <a:ahLst/>
            <a:cxnLst/>
            <a:rect l="l" t="t" r="r" b="b"/>
            <a:pathLst>
              <a:path w="13865756" h="8420296">
                <a:moveTo>
                  <a:pt x="13865756" y="8420296"/>
                </a:moveTo>
                <a:lnTo>
                  <a:pt x="0" y="8420296"/>
                </a:lnTo>
                <a:lnTo>
                  <a:pt x="0" y="0"/>
                </a:lnTo>
                <a:lnTo>
                  <a:pt x="13865756" y="0"/>
                </a:lnTo>
                <a:lnTo>
                  <a:pt x="13865756" y="842029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945959" y="34847"/>
            <a:ext cx="10252153" cy="10252153"/>
          </a:xfrm>
          <a:custGeom>
            <a:avLst/>
            <a:gdLst/>
            <a:ahLst/>
            <a:cxnLst/>
            <a:rect l="l" t="t" r="r" b="b"/>
            <a:pathLst>
              <a:path w="10252153" h="10252153">
                <a:moveTo>
                  <a:pt x="10252152" y="0"/>
                </a:moveTo>
                <a:lnTo>
                  <a:pt x="0" y="0"/>
                </a:lnTo>
                <a:lnTo>
                  <a:pt x="0" y="10252153"/>
                </a:lnTo>
                <a:lnTo>
                  <a:pt x="10252152" y="10252153"/>
                </a:lnTo>
                <a:lnTo>
                  <a:pt x="1025215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40375" y="2646484"/>
            <a:ext cx="8924826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1" spc="-162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Link Repository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40375" y="4484985"/>
            <a:ext cx="6986583" cy="2325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Arsitektur jaringan tradisional dan protokol routing seperti Dijkstra/OSPF tidak lagi memadai karena hanya mencari jalur terpendek dan mengabaikan kapasitas bandwidth. Fokus pada jarak ini menyebabkan masalah bottleneck dan kemacetan saat volume data tinggi.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40375" y="1885754"/>
            <a:ext cx="2722318" cy="313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Projek DAA 2025</a:t>
            </a:r>
          </a:p>
        </p:txBody>
      </p:sp>
      <p:sp>
        <p:nvSpPr>
          <p:cNvPr id="7" name="Freeform 7"/>
          <p:cNvSpPr/>
          <p:nvPr/>
        </p:nvSpPr>
        <p:spPr>
          <a:xfrm>
            <a:off x="1440375" y="8124500"/>
            <a:ext cx="632812" cy="632812"/>
          </a:xfrm>
          <a:custGeom>
            <a:avLst/>
            <a:gdLst/>
            <a:ahLst/>
            <a:cxnLst/>
            <a:rect l="l" t="t" r="r" b="b"/>
            <a:pathLst>
              <a:path w="632812" h="632812">
                <a:moveTo>
                  <a:pt x="0" y="0"/>
                </a:moveTo>
                <a:lnTo>
                  <a:pt x="632813" y="0"/>
                </a:lnTo>
                <a:lnTo>
                  <a:pt x="632813" y="632813"/>
                </a:lnTo>
                <a:lnTo>
                  <a:pt x="0" y="6328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6676">
                <a:alpha val="100000"/>
              </a:srgbClr>
            </a:gs>
            <a:gs pos="100000">
              <a:srgbClr val="72BD51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9306193" y="1866704"/>
            <a:ext cx="13865756" cy="8420296"/>
          </a:xfrm>
          <a:custGeom>
            <a:avLst/>
            <a:gdLst/>
            <a:ahLst/>
            <a:cxnLst/>
            <a:rect l="l" t="t" r="r" b="b"/>
            <a:pathLst>
              <a:path w="13865756" h="8420296">
                <a:moveTo>
                  <a:pt x="13865756" y="8420296"/>
                </a:moveTo>
                <a:lnTo>
                  <a:pt x="0" y="8420296"/>
                </a:lnTo>
                <a:lnTo>
                  <a:pt x="0" y="0"/>
                </a:lnTo>
                <a:lnTo>
                  <a:pt x="13865756" y="0"/>
                </a:lnTo>
                <a:lnTo>
                  <a:pt x="13865756" y="842029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945959" y="34847"/>
            <a:ext cx="10252153" cy="10252153"/>
          </a:xfrm>
          <a:custGeom>
            <a:avLst/>
            <a:gdLst/>
            <a:ahLst/>
            <a:cxnLst/>
            <a:rect l="l" t="t" r="r" b="b"/>
            <a:pathLst>
              <a:path w="10252153" h="10252153">
                <a:moveTo>
                  <a:pt x="10252152" y="0"/>
                </a:moveTo>
                <a:lnTo>
                  <a:pt x="0" y="0"/>
                </a:lnTo>
                <a:lnTo>
                  <a:pt x="0" y="10252153"/>
                </a:lnTo>
                <a:lnTo>
                  <a:pt x="10252152" y="10252153"/>
                </a:lnTo>
                <a:lnTo>
                  <a:pt x="1025215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223663" y="1529687"/>
            <a:ext cx="6654637" cy="7227625"/>
            <a:chOff x="0" y="0"/>
            <a:chExt cx="1312864" cy="142590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12864" cy="1425906"/>
            </a:xfrm>
            <a:custGeom>
              <a:avLst/>
              <a:gdLst/>
              <a:ahLst/>
              <a:cxnLst/>
              <a:rect l="l" t="t" r="r" b="b"/>
              <a:pathLst>
                <a:path w="1312864" h="1425906">
                  <a:moveTo>
                    <a:pt x="69803" y="0"/>
                  </a:moveTo>
                  <a:lnTo>
                    <a:pt x="1243061" y="0"/>
                  </a:lnTo>
                  <a:cubicBezTo>
                    <a:pt x="1281612" y="0"/>
                    <a:pt x="1312864" y="31252"/>
                    <a:pt x="1312864" y="69803"/>
                  </a:cubicBezTo>
                  <a:lnTo>
                    <a:pt x="1312864" y="1356103"/>
                  </a:lnTo>
                  <a:cubicBezTo>
                    <a:pt x="1312864" y="1394654"/>
                    <a:pt x="1281612" y="1425906"/>
                    <a:pt x="1243061" y="1425906"/>
                  </a:cubicBezTo>
                  <a:lnTo>
                    <a:pt x="69803" y="1425906"/>
                  </a:lnTo>
                  <a:cubicBezTo>
                    <a:pt x="51290" y="1425906"/>
                    <a:pt x="33536" y="1418552"/>
                    <a:pt x="20445" y="1405461"/>
                  </a:cubicBezTo>
                  <a:cubicBezTo>
                    <a:pt x="7354" y="1392371"/>
                    <a:pt x="0" y="1374616"/>
                    <a:pt x="0" y="1356103"/>
                  </a:cubicBezTo>
                  <a:lnTo>
                    <a:pt x="0" y="69803"/>
                  </a:lnTo>
                  <a:cubicBezTo>
                    <a:pt x="0" y="31252"/>
                    <a:pt x="31252" y="0"/>
                    <a:pt x="69803" y="0"/>
                  </a:cubicBezTo>
                  <a:close/>
                </a:path>
              </a:pathLst>
            </a:custGeom>
            <a:blipFill>
              <a:blip r:embed="rId6"/>
              <a:stretch>
                <a:fillRect l="-10846" t="-17824" b="-32538"/>
              </a:stretch>
            </a:blipFill>
            <a:ln w="19050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id="6" name="Freeform 6"/>
          <p:cNvSpPr/>
          <p:nvPr/>
        </p:nvSpPr>
        <p:spPr>
          <a:xfrm>
            <a:off x="1440375" y="8124500"/>
            <a:ext cx="632812" cy="632812"/>
          </a:xfrm>
          <a:custGeom>
            <a:avLst/>
            <a:gdLst/>
            <a:ahLst/>
            <a:cxnLst/>
            <a:rect l="l" t="t" r="r" b="b"/>
            <a:pathLst>
              <a:path w="632812" h="632812">
                <a:moveTo>
                  <a:pt x="0" y="0"/>
                </a:moveTo>
                <a:lnTo>
                  <a:pt x="632813" y="0"/>
                </a:lnTo>
                <a:lnTo>
                  <a:pt x="632813" y="632813"/>
                </a:lnTo>
                <a:lnTo>
                  <a:pt x="0" y="6328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40375" y="2646484"/>
            <a:ext cx="7703625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1" spc="-162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Pendahuluan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40375" y="4484985"/>
            <a:ext cx="6986583" cy="2325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Arsitektur jaringan tradisional dan protokol routing seperti Dijkstra/OSPF tidak lagi memadai karena hanya mencari jalur terpendek dan mengabaikan kapasitas bandwidth. Fokus pada jarak ini menyebabkan masalah bottleneck dan kemacetan saat volume data tinggi.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40375" y="1885754"/>
            <a:ext cx="2722318" cy="313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Projek DAA 2025</a:t>
            </a:r>
          </a:p>
        </p:txBody>
      </p:sp>
    </p:spTree>
  </p:cSld>
  <p:clrMapOvr>
    <a:masterClrMapping/>
  </p:clrMapOvr>
  <p:transition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8921114" cy="8229600"/>
            <a:chOff x="0" y="0"/>
            <a:chExt cx="2349594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49594" cy="2167467"/>
            </a:xfrm>
            <a:custGeom>
              <a:avLst/>
              <a:gdLst/>
              <a:ahLst/>
              <a:cxnLst/>
              <a:rect l="l" t="t" r="r" b="b"/>
              <a:pathLst>
                <a:path w="2349594" h="2167467">
                  <a:moveTo>
                    <a:pt x="69426" y="0"/>
                  </a:moveTo>
                  <a:lnTo>
                    <a:pt x="2280168" y="0"/>
                  </a:lnTo>
                  <a:cubicBezTo>
                    <a:pt x="2298581" y="0"/>
                    <a:pt x="2316240" y="7314"/>
                    <a:pt x="2329260" y="20334"/>
                  </a:cubicBezTo>
                  <a:cubicBezTo>
                    <a:pt x="2342279" y="33354"/>
                    <a:pt x="2349594" y="51013"/>
                    <a:pt x="2349594" y="69426"/>
                  </a:cubicBezTo>
                  <a:lnTo>
                    <a:pt x="2349594" y="2098041"/>
                  </a:lnTo>
                  <a:cubicBezTo>
                    <a:pt x="2349594" y="2116454"/>
                    <a:pt x="2342279" y="2134113"/>
                    <a:pt x="2329260" y="2147133"/>
                  </a:cubicBezTo>
                  <a:cubicBezTo>
                    <a:pt x="2316240" y="2160152"/>
                    <a:pt x="2298581" y="2167467"/>
                    <a:pt x="2280168" y="2167467"/>
                  </a:cubicBezTo>
                  <a:lnTo>
                    <a:pt x="69426" y="2167467"/>
                  </a:lnTo>
                  <a:cubicBezTo>
                    <a:pt x="51013" y="2167467"/>
                    <a:pt x="33354" y="2160152"/>
                    <a:pt x="20334" y="2147133"/>
                  </a:cubicBezTo>
                  <a:cubicBezTo>
                    <a:pt x="7314" y="2134113"/>
                    <a:pt x="0" y="2116454"/>
                    <a:pt x="0" y="2098041"/>
                  </a:cubicBezTo>
                  <a:lnTo>
                    <a:pt x="0" y="69426"/>
                  </a:lnTo>
                  <a:cubicBezTo>
                    <a:pt x="0" y="51013"/>
                    <a:pt x="7314" y="33354"/>
                    <a:pt x="20334" y="20334"/>
                  </a:cubicBezTo>
                  <a:cubicBezTo>
                    <a:pt x="33354" y="7314"/>
                    <a:pt x="51013" y="0"/>
                    <a:pt x="6942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6676">
                    <a:alpha val="100000"/>
                  </a:srgbClr>
                </a:gs>
                <a:gs pos="100000">
                  <a:srgbClr val="72BD51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349594" cy="2167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636134" y="1028700"/>
            <a:ext cx="5313681" cy="5313681"/>
          </a:xfrm>
          <a:custGeom>
            <a:avLst/>
            <a:gdLst/>
            <a:ahLst/>
            <a:cxnLst/>
            <a:rect l="l" t="t" r="r" b="b"/>
            <a:pathLst>
              <a:path w="5313681" h="5313681">
                <a:moveTo>
                  <a:pt x="0" y="0"/>
                </a:moveTo>
                <a:lnTo>
                  <a:pt x="5313680" y="0"/>
                </a:lnTo>
                <a:lnTo>
                  <a:pt x="5313680" y="5313681"/>
                </a:lnTo>
                <a:lnTo>
                  <a:pt x="0" y="53136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1277016" y="6394711"/>
            <a:ext cx="681720" cy="733539"/>
            <a:chOff x="0" y="0"/>
            <a:chExt cx="179548" cy="19319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9548" cy="193195"/>
            </a:xfrm>
            <a:custGeom>
              <a:avLst/>
              <a:gdLst/>
              <a:ahLst/>
              <a:cxnLst/>
              <a:rect l="l" t="t" r="r" b="b"/>
              <a:pathLst>
                <a:path w="179548" h="193195">
                  <a:moveTo>
                    <a:pt x="89774" y="0"/>
                  </a:moveTo>
                  <a:lnTo>
                    <a:pt x="89774" y="0"/>
                  </a:lnTo>
                  <a:cubicBezTo>
                    <a:pt x="139355" y="0"/>
                    <a:pt x="179548" y="40193"/>
                    <a:pt x="179548" y="89774"/>
                  </a:cubicBezTo>
                  <a:lnTo>
                    <a:pt x="179548" y="103421"/>
                  </a:lnTo>
                  <a:cubicBezTo>
                    <a:pt x="179548" y="127231"/>
                    <a:pt x="170089" y="150065"/>
                    <a:pt x="153254" y="166901"/>
                  </a:cubicBezTo>
                  <a:cubicBezTo>
                    <a:pt x="136418" y="183737"/>
                    <a:pt x="113583" y="193195"/>
                    <a:pt x="89774" y="193195"/>
                  </a:cubicBezTo>
                  <a:lnTo>
                    <a:pt x="89774" y="193195"/>
                  </a:lnTo>
                  <a:cubicBezTo>
                    <a:pt x="65964" y="193195"/>
                    <a:pt x="43130" y="183737"/>
                    <a:pt x="26294" y="166901"/>
                  </a:cubicBezTo>
                  <a:cubicBezTo>
                    <a:pt x="9458" y="150065"/>
                    <a:pt x="0" y="127231"/>
                    <a:pt x="0" y="103421"/>
                  </a:cubicBezTo>
                  <a:lnTo>
                    <a:pt x="0" y="89774"/>
                  </a:lnTo>
                  <a:cubicBezTo>
                    <a:pt x="0" y="65964"/>
                    <a:pt x="9458" y="43130"/>
                    <a:pt x="26294" y="26294"/>
                  </a:cubicBezTo>
                  <a:cubicBezTo>
                    <a:pt x="43130" y="9458"/>
                    <a:pt x="65964" y="0"/>
                    <a:pt x="89774" y="0"/>
                  </a:cubicBezTo>
                  <a:close/>
                </a:path>
              </a:pathLst>
            </a:custGeom>
            <a:solidFill>
              <a:srgbClr val="0D667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179548" cy="193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277016" y="1641101"/>
            <a:ext cx="681720" cy="733539"/>
            <a:chOff x="0" y="0"/>
            <a:chExt cx="179548" cy="19319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9548" cy="193195"/>
            </a:xfrm>
            <a:custGeom>
              <a:avLst/>
              <a:gdLst/>
              <a:ahLst/>
              <a:cxnLst/>
              <a:rect l="l" t="t" r="r" b="b"/>
              <a:pathLst>
                <a:path w="179548" h="193195">
                  <a:moveTo>
                    <a:pt x="89774" y="0"/>
                  </a:moveTo>
                  <a:lnTo>
                    <a:pt x="89774" y="0"/>
                  </a:lnTo>
                  <a:cubicBezTo>
                    <a:pt x="139355" y="0"/>
                    <a:pt x="179548" y="40193"/>
                    <a:pt x="179548" y="89774"/>
                  </a:cubicBezTo>
                  <a:lnTo>
                    <a:pt x="179548" y="103421"/>
                  </a:lnTo>
                  <a:cubicBezTo>
                    <a:pt x="179548" y="127231"/>
                    <a:pt x="170089" y="150065"/>
                    <a:pt x="153254" y="166901"/>
                  </a:cubicBezTo>
                  <a:cubicBezTo>
                    <a:pt x="136418" y="183737"/>
                    <a:pt x="113583" y="193195"/>
                    <a:pt x="89774" y="193195"/>
                  </a:cubicBezTo>
                  <a:lnTo>
                    <a:pt x="89774" y="193195"/>
                  </a:lnTo>
                  <a:cubicBezTo>
                    <a:pt x="65964" y="193195"/>
                    <a:pt x="43130" y="183737"/>
                    <a:pt x="26294" y="166901"/>
                  </a:cubicBezTo>
                  <a:cubicBezTo>
                    <a:pt x="9458" y="150065"/>
                    <a:pt x="0" y="127231"/>
                    <a:pt x="0" y="103421"/>
                  </a:cubicBezTo>
                  <a:lnTo>
                    <a:pt x="0" y="89774"/>
                  </a:lnTo>
                  <a:cubicBezTo>
                    <a:pt x="0" y="65964"/>
                    <a:pt x="9458" y="43130"/>
                    <a:pt x="26294" y="26294"/>
                  </a:cubicBezTo>
                  <a:cubicBezTo>
                    <a:pt x="43130" y="9458"/>
                    <a:pt x="65964" y="0"/>
                    <a:pt x="89774" y="0"/>
                  </a:cubicBezTo>
                  <a:close/>
                </a:path>
              </a:pathLst>
            </a:custGeom>
            <a:solidFill>
              <a:srgbClr val="0D6676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179548" cy="193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 flipV="1">
            <a:off x="11277016" y="5289195"/>
            <a:ext cx="5270215" cy="0"/>
          </a:xfrm>
          <a:prstGeom prst="line">
            <a:avLst/>
          </a:prstGeom>
          <a:ln w="19050" cap="flat">
            <a:solidFill>
              <a:srgbClr val="72BD5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2010400" y="7618731"/>
            <a:ext cx="6360101" cy="1064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00"/>
              </a:lnSpc>
            </a:pPr>
            <a:r>
              <a:rPr lang="en-US" sz="74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Pendahuluan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277016" y="2769870"/>
            <a:ext cx="5572698" cy="1153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Penerapan Software Defined Network (SDN) menggunakan Algoritma Highest Bottleneck Bandwidth (HBB).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244487" y="1550670"/>
            <a:ext cx="3480257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D6676"/>
                </a:solidFill>
                <a:latin typeface="Telegraf Bold"/>
                <a:ea typeface="Telegraf Bold"/>
                <a:cs typeface="Telegraf Bold"/>
                <a:sym typeface="Telegraf Bold"/>
              </a:rPr>
              <a:t>Solusi</a:t>
            </a:r>
          </a:p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D6676"/>
                </a:solidFill>
                <a:latin typeface="Telegraf Bold"/>
                <a:ea typeface="Telegraf Bold"/>
                <a:cs typeface="Telegraf Bold"/>
                <a:sym typeface="Telegraf Bold"/>
              </a:rPr>
              <a:t>Artikel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277016" y="7533006"/>
            <a:ext cx="5572698" cy="1554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Membuktikan pendekatan HBB memberikan throughput yang lebih baik dan mengurangi packet loss dibandingkan dengan pendekatan Shortest Path First (SPF) tradisional, terutama untuk pengiriman data bervolume besar.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244487" y="6304281"/>
            <a:ext cx="3225380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D6676"/>
                </a:solidFill>
                <a:latin typeface="Telegraf Bold"/>
                <a:ea typeface="Telegraf Bold"/>
                <a:cs typeface="Telegraf Bold"/>
                <a:sym typeface="Telegraf Bold"/>
              </a:rPr>
              <a:t>Tujuan</a:t>
            </a:r>
          </a:p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0D6676"/>
                </a:solidFill>
                <a:latin typeface="Telegraf Bold"/>
                <a:ea typeface="Telegraf Bold"/>
                <a:cs typeface="Telegraf Bold"/>
                <a:sym typeface="Telegraf Bold"/>
              </a:rPr>
              <a:t>Artikel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010400" y="1770381"/>
            <a:ext cx="1647827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Projek DAA 2025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414396" y="6513831"/>
            <a:ext cx="406961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414396" y="1760220"/>
            <a:ext cx="406961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1</a:t>
            </a:r>
          </a:p>
        </p:txBody>
      </p:sp>
    </p:spTree>
  </p:cSld>
  <p:clrMapOvr>
    <a:masterClrMapping/>
  </p:clrMapOvr>
  <p:transition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6676">
                <a:alpha val="100000"/>
              </a:srgbClr>
            </a:gs>
            <a:gs pos="100000">
              <a:srgbClr val="72BD51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9054" y="0"/>
            <a:ext cx="4506866" cy="4506866"/>
          </a:xfrm>
          <a:custGeom>
            <a:avLst/>
            <a:gdLst/>
            <a:ahLst/>
            <a:cxnLst/>
            <a:rect l="l" t="t" r="r" b="b"/>
            <a:pathLst>
              <a:path w="4506866" h="4506866">
                <a:moveTo>
                  <a:pt x="4506865" y="4506866"/>
                </a:moveTo>
                <a:lnTo>
                  <a:pt x="0" y="4506866"/>
                </a:lnTo>
                <a:lnTo>
                  <a:pt x="0" y="0"/>
                </a:lnTo>
                <a:lnTo>
                  <a:pt x="4506865" y="0"/>
                </a:lnTo>
                <a:lnTo>
                  <a:pt x="4506865" y="45068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244572" y="1028700"/>
            <a:ext cx="18503872" cy="10272085"/>
            <a:chOff x="0" y="0"/>
            <a:chExt cx="4873448" cy="27054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73448" cy="2705405"/>
            </a:xfrm>
            <a:custGeom>
              <a:avLst/>
              <a:gdLst/>
              <a:ahLst/>
              <a:cxnLst/>
              <a:rect l="l" t="t" r="r" b="b"/>
              <a:pathLst>
                <a:path w="4873448" h="2705405">
                  <a:moveTo>
                    <a:pt x="33472" y="0"/>
                  </a:moveTo>
                  <a:lnTo>
                    <a:pt x="4839976" y="0"/>
                  </a:lnTo>
                  <a:cubicBezTo>
                    <a:pt x="4848854" y="0"/>
                    <a:pt x="4857367" y="3526"/>
                    <a:pt x="4863644" y="9804"/>
                  </a:cubicBezTo>
                  <a:cubicBezTo>
                    <a:pt x="4869921" y="16081"/>
                    <a:pt x="4873448" y="24594"/>
                    <a:pt x="4873448" y="33472"/>
                  </a:cubicBezTo>
                  <a:lnTo>
                    <a:pt x="4873448" y="2671933"/>
                  </a:lnTo>
                  <a:cubicBezTo>
                    <a:pt x="4873448" y="2690419"/>
                    <a:pt x="4858462" y="2705405"/>
                    <a:pt x="4839976" y="2705405"/>
                  </a:cubicBezTo>
                  <a:lnTo>
                    <a:pt x="33472" y="2705405"/>
                  </a:lnTo>
                  <a:cubicBezTo>
                    <a:pt x="14986" y="2705405"/>
                    <a:pt x="0" y="2690419"/>
                    <a:pt x="0" y="2671933"/>
                  </a:cubicBezTo>
                  <a:lnTo>
                    <a:pt x="0" y="33472"/>
                  </a:lnTo>
                  <a:cubicBezTo>
                    <a:pt x="0" y="14986"/>
                    <a:pt x="14986" y="0"/>
                    <a:pt x="3347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4873448" cy="27054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890448" y="1780145"/>
            <a:ext cx="632812" cy="632812"/>
          </a:xfrm>
          <a:custGeom>
            <a:avLst/>
            <a:gdLst/>
            <a:ahLst/>
            <a:cxnLst/>
            <a:rect l="l" t="t" r="r" b="b"/>
            <a:pathLst>
              <a:path w="632812" h="632812">
                <a:moveTo>
                  <a:pt x="0" y="0"/>
                </a:moveTo>
                <a:lnTo>
                  <a:pt x="632813" y="0"/>
                </a:lnTo>
                <a:lnTo>
                  <a:pt x="632813" y="632813"/>
                </a:lnTo>
                <a:lnTo>
                  <a:pt x="0" y="6328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409700" y="2178925"/>
            <a:ext cx="5991901" cy="244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Tinjauan</a:t>
            </a:r>
          </a:p>
          <a:p>
            <a:pPr algn="l">
              <a:lnSpc>
                <a:spcPts val="9000"/>
              </a:lnSpc>
            </a:pPr>
            <a:r>
              <a:rPr lang="en-US" sz="9000" b="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Pustaka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9700" y="1799195"/>
            <a:ext cx="2488602" cy="313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Metrik Routing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55D84F9-1282-A0E5-72CF-DFEE4D1FA4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3834" y="4940368"/>
            <a:ext cx="12536650" cy="34675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6676">
                <a:alpha val="100000"/>
              </a:srgbClr>
            </a:gs>
            <a:gs pos="100000">
              <a:srgbClr val="72BD51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9054" y="0"/>
            <a:ext cx="4506866" cy="4506866"/>
          </a:xfrm>
          <a:custGeom>
            <a:avLst/>
            <a:gdLst/>
            <a:ahLst/>
            <a:cxnLst/>
            <a:rect l="l" t="t" r="r" b="b"/>
            <a:pathLst>
              <a:path w="4506866" h="4506866">
                <a:moveTo>
                  <a:pt x="4506865" y="4506866"/>
                </a:moveTo>
                <a:lnTo>
                  <a:pt x="0" y="4506866"/>
                </a:lnTo>
                <a:lnTo>
                  <a:pt x="0" y="0"/>
                </a:lnTo>
                <a:lnTo>
                  <a:pt x="4506865" y="0"/>
                </a:lnTo>
                <a:lnTo>
                  <a:pt x="4506865" y="45068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244572" y="1028700"/>
            <a:ext cx="18503872" cy="10272085"/>
            <a:chOff x="0" y="0"/>
            <a:chExt cx="4873448" cy="27054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73448" cy="2705405"/>
            </a:xfrm>
            <a:custGeom>
              <a:avLst/>
              <a:gdLst/>
              <a:ahLst/>
              <a:cxnLst/>
              <a:rect l="l" t="t" r="r" b="b"/>
              <a:pathLst>
                <a:path w="4873448" h="2705405">
                  <a:moveTo>
                    <a:pt x="33472" y="0"/>
                  </a:moveTo>
                  <a:lnTo>
                    <a:pt x="4839976" y="0"/>
                  </a:lnTo>
                  <a:cubicBezTo>
                    <a:pt x="4848854" y="0"/>
                    <a:pt x="4857367" y="3526"/>
                    <a:pt x="4863644" y="9804"/>
                  </a:cubicBezTo>
                  <a:cubicBezTo>
                    <a:pt x="4869921" y="16081"/>
                    <a:pt x="4873448" y="24594"/>
                    <a:pt x="4873448" y="33472"/>
                  </a:cubicBezTo>
                  <a:lnTo>
                    <a:pt x="4873448" y="2671933"/>
                  </a:lnTo>
                  <a:cubicBezTo>
                    <a:pt x="4873448" y="2690419"/>
                    <a:pt x="4858462" y="2705405"/>
                    <a:pt x="4839976" y="2705405"/>
                  </a:cubicBezTo>
                  <a:lnTo>
                    <a:pt x="33472" y="2705405"/>
                  </a:lnTo>
                  <a:cubicBezTo>
                    <a:pt x="14986" y="2705405"/>
                    <a:pt x="0" y="2690419"/>
                    <a:pt x="0" y="2671933"/>
                  </a:cubicBezTo>
                  <a:lnTo>
                    <a:pt x="0" y="33472"/>
                  </a:lnTo>
                  <a:cubicBezTo>
                    <a:pt x="0" y="14986"/>
                    <a:pt x="14986" y="0"/>
                    <a:pt x="3347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4873448" cy="27054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890448" y="1780145"/>
            <a:ext cx="632812" cy="632812"/>
          </a:xfrm>
          <a:custGeom>
            <a:avLst/>
            <a:gdLst/>
            <a:ahLst/>
            <a:cxnLst/>
            <a:rect l="l" t="t" r="r" b="b"/>
            <a:pathLst>
              <a:path w="632812" h="632812">
                <a:moveTo>
                  <a:pt x="0" y="0"/>
                </a:moveTo>
                <a:lnTo>
                  <a:pt x="632813" y="0"/>
                </a:lnTo>
                <a:lnTo>
                  <a:pt x="632813" y="632813"/>
                </a:lnTo>
                <a:lnTo>
                  <a:pt x="0" y="6328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409700" y="2178925"/>
            <a:ext cx="5991901" cy="244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Tinjauan</a:t>
            </a:r>
          </a:p>
          <a:p>
            <a:pPr algn="l">
              <a:lnSpc>
                <a:spcPts val="9000"/>
              </a:lnSpc>
            </a:pPr>
            <a:r>
              <a:rPr lang="en-US" sz="9000" b="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Pustaka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9700" y="1799195"/>
            <a:ext cx="2488602" cy="313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Algoritma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DB6F31-84D1-3DA9-C30F-80052201EC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8070" y="5277361"/>
            <a:ext cx="12431860" cy="3743847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6676">
                <a:alpha val="100000"/>
              </a:srgbClr>
            </a:gs>
            <a:gs pos="100000">
              <a:srgbClr val="72BD51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V="1">
            <a:off x="11740165" y="1314750"/>
            <a:ext cx="6856495" cy="7088481"/>
          </a:xfrm>
          <a:custGeom>
            <a:avLst/>
            <a:gdLst/>
            <a:ahLst/>
            <a:cxnLst/>
            <a:rect l="l" t="t" r="r" b="b"/>
            <a:pathLst>
              <a:path w="6856495" h="7088481">
                <a:moveTo>
                  <a:pt x="0" y="7088481"/>
                </a:moveTo>
                <a:lnTo>
                  <a:pt x="6856495" y="7088481"/>
                </a:lnTo>
                <a:lnTo>
                  <a:pt x="6856495" y="0"/>
                </a:lnTo>
                <a:lnTo>
                  <a:pt x="0" y="0"/>
                </a:lnTo>
                <a:lnTo>
                  <a:pt x="0" y="70884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318326" y="1888331"/>
            <a:ext cx="8674579" cy="8674579"/>
          </a:xfrm>
          <a:custGeom>
            <a:avLst/>
            <a:gdLst/>
            <a:ahLst/>
            <a:cxnLst/>
            <a:rect l="l" t="t" r="r" b="b"/>
            <a:pathLst>
              <a:path w="8674579" h="8674579">
                <a:moveTo>
                  <a:pt x="8674579" y="0"/>
                </a:moveTo>
                <a:lnTo>
                  <a:pt x="0" y="0"/>
                </a:lnTo>
                <a:lnTo>
                  <a:pt x="0" y="8674579"/>
                </a:lnTo>
                <a:lnTo>
                  <a:pt x="8674579" y="8674579"/>
                </a:lnTo>
                <a:lnTo>
                  <a:pt x="867457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-1246071"/>
            <a:ext cx="18288000" cy="4680196"/>
            <a:chOff x="0" y="0"/>
            <a:chExt cx="4816593" cy="12326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1232644"/>
            </a:xfrm>
            <a:custGeom>
              <a:avLst/>
              <a:gdLst/>
              <a:ahLst/>
              <a:cxnLst/>
              <a:rect l="l" t="t" r="r" b="b"/>
              <a:pathLst>
                <a:path w="4816592" h="1232644">
                  <a:moveTo>
                    <a:pt x="38100" y="0"/>
                  </a:moveTo>
                  <a:lnTo>
                    <a:pt x="4778492" y="0"/>
                  </a:lnTo>
                  <a:cubicBezTo>
                    <a:pt x="4788597" y="0"/>
                    <a:pt x="4798288" y="4014"/>
                    <a:pt x="4805433" y="11159"/>
                  </a:cubicBezTo>
                  <a:cubicBezTo>
                    <a:pt x="4812578" y="18304"/>
                    <a:pt x="4816592" y="27995"/>
                    <a:pt x="4816592" y="38100"/>
                  </a:cubicBezTo>
                  <a:lnTo>
                    <a:pt x="4816592" y="1194544"/>
                  </a:lnTo>
                  <a:cubicBezTo>
                    <a:pt x="4816592" y="1215586"/>
                    <a:pt x="4799535" y="1232644"/>
                    <a:pt x="4778492" y="1232644"/>
                  </a:cubicBezTo>
                  <a:lnTo>
                    <a:pt x="38100" y="1232644"/>
                  </a:lnTo>
                  <a:cubicBezTo>
                    <a:pt x="17058" y="1232644"/>
                    <a:pt x="0" y="1215586"/>
                    <a:pt x="0" y="1194544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4816593" cy="12326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043770" y="1286175"/>
            <a:ext cx="11111998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Metode Penelitian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043770" y="5268507"/>
            <a:ext cx="5671730" cy="1153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Jaringan dimodelkan sebagai graf G=(V, E) di mana setiap (u, v) memiliki dua atribut bobot utama: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84445" y="4473457"/>
            <a:ext cx="5592435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Pemodelan Matematis Jaringan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4043770" y="4434989"/>
            <a:ext cx="497577" cy="495667"/>
            <a:chOff x="0" y="0"/>
            <a:chExt cx="119643" cy="11918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9643" cy="119184"/>
            </a:xfrm>
            <a:custGeom>
              <a:avLst/>
              <a:gdLst/>
              <a:ahLst/>
              <a:cxnLst/>
              <a:rect l="l" t="t" r="r" b="b"/>
              <a:pathLst>
                <a:path w="119643" h="119184">
                  <a:moveTo>
                    <a:pt x="59592" y="0"/>
                  </a:moveTo>
                  <a:lnTo>
                    <a:pt x="60051" y="0"/>
                  </a:lnTo>
                  <a:cubicBezTo>
                    <a:pt x="92963" y="0"/>
                    <a:pt x="119643" y="26680"/>
                    <a:pt x="119643" y="59592"/>
                  </a:cubicBezTo>
                  <a:lnTo>
                    <a:pt x="119643" y="59592"/>
                  </a:lnTo>
                  <a:cubicBezTo>
                    <a:pt x="119643" y="75397"/>
                    <a:pt x="113365" y="90554"/>
                    <a:pt x="102189" y="101730"/>
                  </a:cubicBezTo>
                  <a:cubicBezTo>
                    <a:pt x="91014" y="112906"/>
                    <a:pt x="75856" y="119184"/>
                    <a:pt x="60051" y="119184"/>
                  </a:cubicBezTo>
                  <a:lnTo>
                    <a:pt x="59592" y="119184"/>
                  </a:lnTo>
                  <a:cubicBezTo>
                    <a:pt x="26680" y="119184"/>
                    <a:pt x="0" y="92504"/>
                    <a:pt x="0" y="59592"/>
                  </a:cubicBezTo>
                  <a:lnTo>
                    <a:pt x="0" y="59592"/>
                  </a:lnTo>
                  <a:cubicBezTo>
                    <a:pt x="0" y="26680"/>
                    <a:pt x="26680" y="0"/>
                    <a:pt x="59592" y="0"/>
                  </a:cubicBezTo>
                  <a:close/>
                </a:path>
              </a:pathLst>
            </a:custGeom>
            <a:solidFill>
              <a:srgbClr val="0D6676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19643" cy="1191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154492" y="4497085"/>
            <a:ext cx="276133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043770" y="8050503"/>
            <a:ext cx="5671730" cy="763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Dua algoritma dibandingkan dalam simulasi: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784445" y="7255452"/>
            <a:ext cx="4359555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Implementasi Algoritma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175913" y="5268507"/>
            <a:ext cx="5671730" cy="1153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Dirancang topologi 6 node (A ke F) yang sengaja menciptakan konflik antara jalur terpendek dan jalur berkapasitas tinggi.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916589" y="4435173"/>
            <a:ext cx="4106576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Desain Skenario Uji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175913" y="8050503"/>
            <a:ext cx="5671730" cy="763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Analisis komparatif dilakukan berdasarkan metrik QoS berikut: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916589" y="7255452"/>
            <a:ext cx="4688988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Parameter Evaluasi Kerja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04950" y="1526381"/>
            <a:ext cx="1647827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Projek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DAA 2025</a:t>
            </a:r>
          </a:p>
        </p:txBody>
      </p:sp>
      <p:sp>
        <p:nvSpPr>
          <p:cNvPr id="21" name="Freeform 21"/>
          <p:cNvSpPr/>
          <p:nvPr/>
        </p:nvSpPr>
        <p:spPr>
          <a:xfrm flipV="1">
            <a:off x="1504950" y="4404700"/>
            <a:ext cx="632812" cy="632812"/>
          </a:xfrm>
          <a:custGeom>
            <a:avLst/>
            <a:gdLst/>
            <a:ahLst/>
            <a:cxnLst/>
            <a:rect l="l" t="t" r="r" b="b"/>
            <a:pathLst>
              <a:path w="632812" h="632812">
                <a:moveTo>
                  <a:pt x="0" y="632813"/>
                </a:moveTo>
                <a:lnTo>
                  <a:pt x="632812" y="632813"/>
                </a:lnTo>
                <a:lnTo>
                  <a:pt x="632812" y="0"/>
                </a:lnTo>
                <a:lnTo>
                  <a:pt x="0" y="0"/>
                </a:lnTo>
                <a:lnTo>
                  <a:pt x="0" y="63281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4043770" y="7255269"/>
            <a:ext cx="497577" cy="495667"/>
            <a:chOff x="0" y="0"/>
            <a:chExt cx="119643" cy="11918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9643" cy="119184"/>
            </a:xfrm>
            <a:custGeom>
              <a:avLst/>
              <a:gdLst/>
              <a:ahLst/>
              <a:cxnLst/>
              <a:rect l="l" t="t" r="r" b="b"/>
              <a:pathLst>
                <a:path w="119643" h="119184">
                  <a:moveTo>
                    <a:pt x="59592" y="0"/>
                  </a:moveTo>
                  <a:lnTo>
                    <a:pt x="60051" y="0"/>
                  </a:lnTo>
                  <a:cubicBezTo>
                    <a:pt x="92963" y="0"/>
                    <a:pt x="119643" y="26680"/>
                    <a:pt x="119643" y="59592"/>
                  </a:cubicBezTo>
                  <a:lnTo>
                    <a:pt x="119643" y="59592"/>
                  </a:lnTo>
                  <a:cubicBezTo>
                    <a:pt x="119643" y="75397"/>
                    <a:pt x="113365" y="90554"/>
                    <a:pt x="102189" y="101730"/>
                  </a:cubicBezTo>
                  <a:cubicBezTo>
                    <a:pt x="91014" y="112906"/>
                    <a:pt x="75856" y="119184"/>
                    <a:pt x="60051" y="119184"/>
                  </a:cubicBezTo>
                  <a:lnTo>
                    <a:pt x="59592" y="119184"/>
                  </a:lnTo>
                  <a:cubicBezTo>
                    <a:pt x="26680" y="119184"/>
                    <a:pt x="0" y="92504"/>
                    <a:pt x="0" y="59592"/>
                  </a:cubicBezTo>
                  <a:lnTo>
                    <a:pt x="0" y="59592"/>
                  </a:lnTo>
                  <a:cubicBezTo>
                    <a:pt x="0" y="26680"/>
                    <a:pt x="26680" y="0"/>
                    <a:pt x="59592" y="0"/>
                  </a:cubicBezTo>
                  <a:close/>
                </a:path>
              </a:pathLst>
            </a:custGeom>
            <a:solidFill>
              <a:srgbClr val="0D6676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119643" cy="1191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4154492" y="7317365"/>
            <a:ext cx="276133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1175913" y="4434989"/>
            <a:ext cx="497577" cy="495667"/>
            <a:chOff x="0" y="0"/>
            <a:chExt cx="119643" cy="11918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9643" cy="119184"/>
            </a:xfrm>
            <a:custGeom>
              <a:avLst/>
              <a:gdLst/>
              <a:ahLst/>
              <a:cxnLst/>
              <a:rect l="l" t="t" r="r" b="b"/>
              <a:pathLst>
                <a:path w="119643" h="119184">
                  <a:moveTo>
                    <a:pt x="59592" y="0"/>
                  </a:moveTo>
                  <a:lnTo>
                    <a:pt x="60051" y="0"/>
                  </a:lnTo>
                  <a:cubicBezTo>
                    <a:pt x="92963" y="0"/>
                    <a:pt x="119643" y="26680"/>
                    <a:pt x="119643" y="59592"/>
                  </a:cubicBezTo>
                  <a:lnTo>
                    <a:pt x="119643" y="59592"/>
                  </a:lnTo>
                  <a:cubicBezTo>
                    <a:pt x="119643" y="75397"/>
                    <a:pt x="113365" y="90554"/>
                    <a:pt x="102189" y="101730"/>
                  </a:cubicBezTo>
                  <a:cubicBezTo>
                    <a:pt x="91014" y="112906"/>
                    <a:pt x="75856" y="119184"/>
                    <a:pt x="60051" y="119184"/>
                  </a:cubicBezTo>
                  <a:lnTo>
                    <a:pt x="59592" y="119184"/>
                  </a:lnTo>
                  <a:cubicBezTo>
                    <a:pt x="26680" y="119184"/>
                    <a:pt x="0" y="92504"/>
                    <a:pt x="0" y="59592"/>
                  </a:cubicBezTo>
                  <a:lnTo>
                    <a:pt x="0" y="59592"/>
                  </a:lnTo>
                  <a:cubicBezTo>
                    <a:pt x="0" y="26680"/>
                    <a:pt x="26680" y="0"/>
                    <a:pt x="59592" y="0"/>
                  </a:cubicBezTo>
                  <a:close/>
                </a:path>
              </a:pathLst>
            </a:custGeom>
            <a:solidFill>
              <a:srgbClr val="0D6676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119643" cy="1191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1286636" y="4497085"/>
            <a:ext cx="276133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1175913" y="7255269"/>
            <a:ext cx="497577" cy="495667"/>
            <a:chOff x="0" y="0"/>
            <a:chExt cx="119643" cy="11918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9643" cy="119184"/>
            </a:xfrm>
            <a:custGeom>
              <a:avLst/>
              <a:gdLst/>
              <a:ahLst/>
              <a:cxnLst/>
              <a:rect l="l" t="t" r="r" b="b"/>
              <a:pathLst>
                <a:path w="119643" h="119184">
                  <a:moveTo>
                    <a:pt x="59592" y="0"/>
                  </a:moveTo>
                  <a:lnTo>
                    <a:pt x="60051" y="0"/>
                  </a:lnTo>
                  <a:cubicBezTo>
                    <a:pt x="92963" y="0"/>
                    <a:pt x="119643" y="26680"/>
                    <a:pt x="119643" y="59592"/>
                  </a:cubicBezTo>
                  <a:lnTo>
                    <a:pt x="119643" y="59592"/>
                  </a:lnTo>
                  <a:cubicBezTo>
                    <a:pt x="119643" y="75397"/>
                    <a:pt x="113365" y="90554"/>
                    <a:pt x="102189" y="101730"/>
                  </a:cubicBezTo>
                  <a:cubicBezTo>
                    <a:pt x="91014" y="112906"/>
                    <a:pt x="75856" y="119184"/>
                    <a:pt x="60051" y="119184"/>
                  </a:cubicBezTo>
                  <a:lnTo>
                    <a:pt x="59592" y="119184"/>
                  </a:lnTo>
                  <a:cubicBezTo>
                    <a:pt x="26680" y="119184"/>
                    <a:pt x="0" y="92504"/>
                    <a:pt x="0" y="59592"/>
                  </a:cubicBezTo>
                  <a:lnTo>
                    <a:pt x="0" y="59592"/>
                  </a:lnTo>
                  <a:cubicBezTo>
                    <a:pt x="0" y="26680"/>
                    <a:pt x="26680" y="0"/>
                    <a:pt x="59592" y="0"/>
                  </a:cubicBezTo>
                  <a:close/>
                </a:path>
              </a:pathLst>
            </a:custGeom>
            <a:solidFill>
              <a:srgbClr val="0D6676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119643" cy="1191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286636" y="7317365"/>
            <a:ext cx="276133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6676">
                <a:alpha val="100000"/>
              </a:srgbClr>
            </a:gs>
            <a:gs pos="100000">
              <a:srgbClr val="72BD51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V="1">
            <a:off x="11740165" y="1314750"/>
            <a:ext cx="6856495" cy="7088481"/>
          </a:xfrm>
          <a:custGeom>
            <a:avLst/>
            <a:gdLst/>
            <a:ahLst/>
            <a:cxnLst/>
            <a:rect l="l" t="t" r="r" b="b"/>
            <a:pathLst>
              <a:path w="6856495" h="7088481">
                <a:moveTo>
                  <a:pt x="0" y="7088481"/>
                </a:moveTo>
                <a:lnTo>
                  <a:pt x="6856495" y="7088481"/>
                </a:lnTo>
                <a:lnTo>
                  <a:pt x="6856495" y="0"/>
                </a:lnTo>
                <a:lnTo>
                  <a:pt x="0" y="0"/>
                </a:lnTo>
                <a:lnTo>
                  <a:pt x="0" y="70884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318326" y="1888331"/>
            <a:ext cx="8674579" cy="8674579"/>
          </a:xfrm>
          <a:custGeom>
            <a:avLst/>
            <a:gdLst/>
            <a:ahLst/>
            <a:cxnLst/>
            <a:rect l="l" t="t" r="r" b="b"/>
            <a:pathLst>
              <a:path w="8674579" h="8674579">
                <a:moveTo>
                  <a:pt x="8674579" y="0"/>
                </a:moveTo>
                <a:lnTo>
                  <a:pt x="0" y="0"/>
                </a:lnTo>
                <a:lnTo>
                  <a:pt x="0" y="8674579"/>
                </a:lnTo>
                <a:lnTo>
                  <a:pt x="8674579" y="8674579"/>
                </a:lnTo>
                <a:lnTo>
                  <a:pt x="867457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-1246071"/>
            <a:ext cx="18288000" cy="4680196"/>
            <a:chOff x="0" y="0"/>
            <a:chExt cx="4816593" cy="12326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1232644"/>
            </a:xfrm>
            <a:custGeom>
              <a:avLst/>
              <a:gdLst/>
              <a:ahLst/>
              <a:cxnLst/>
              <a:rect l="l" t="t" r="r" b="b"/>
              <a:pathLst>
                <a:path w="4816592" h="1232644">
                  <a:moveTo>
                    <a:pt x="38100" y="0"/>
                  </a:moveTo>
                  <a:lnTo>
                    <a:pt x="4778492" y="0"/>
                  </a:lnTo>
                  <a:cubicBezTo>
                    <a:pt x="4788597" y="0"/>
                    <a:pt x="4798288" y="4014"/>
                    <a:pt x="4805433" y="11159"/>
                  </a:cubicBezTo>
                  <a:cubicBezTo>
                    <a:pt x="4812578" y="18304"/>
                    <a:pt x="4816592" y="27995"/>
                    <a:pt x="4816592" y="38100"/>
                  </a:cubicBezTo>
                  <a:lnTo>
                    <a:pt x="4816592" y="1194544"/>
                  </a:lnTo>
                  <a:cubicBezTo>
                    <a:pt x="4816592" y="1215586"/>
                    <a:pt x="4799535" y="1232644"/>
                    <a:pt x="4778492" y="1232644"/>
                  </a:cubicBezTo>
                  <a:lnTo>
                    <a:pt x="38100" y="1232644"/>
                  </a:lnTo>
                  <a:cubicBezTo>
                    <a:pt x="17058" y="1232644"/>
                    <a:pt x="0" y="1215586"/>
                    <a:pt x="0" y="1194544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4816593" cy="12326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r>
                <a:rPr lang="en-US" sz="200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 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043770" y="4434989"/>
            <a:ext cx="654891" cy="652377"/>
            <a:chOff x="0" y="0"/>
            <a:chExt cx="119643" cy="11918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9643" cy="119184"/>
            </a:xfrm>
            <a:custGeom>
              <a:avLst/>
              <a:gdLst/>
              <a:ahLst/>
              <a:cxnLst/>
              <a:rect l="l" t="t" r="r" b="b"/>
              <a:pathLst>
                <a:path w="119643" h="119184">
                  <a:moveTo>
                    <a:pt x="59592" y="0"/>
                  </a:moveTo>
                  <a:lnTo>
                    <a:pt x="60051" y="0"/>
                  </a:lnTo>
                  <a:cubicBezTo>
                    <a:pt x="92963" y="0"/>
                    <a:pt x="119643" y="26680"/>
                    <a:pt x="119643" y="59592"/>
                  </a:cubicBezTo>
                  <a:lnTo>
                    <a:pt x="119643" y="59592"/>
                  </a:lnTo>
                  <a:cubicBezTo>
                    <a:pt x="119643" y="75397"/>
                    <a:pt x="113365" y="90554"/>
                    <a:pt x="102189" y="101730"/>
                  </a:cubicBezTo>
                  <a:cubicBezTo>
                    <a:pt x="91014" y="112906"/>
                    <a:pt x="75856" y="119184"/>
                    <a:pt x="60051" y="119184"/>
                  </a:cubicBezTo>
                  <a:lnTo>
                    <a:pt x="59592" y="119184"/>
                  </a:lnTo>
                  <a:cubicBezTo>
                    <a:pt x="26680" y="119184"/>
                    <a:pt x="0" y="92504"/>
                    <a:pt x="0" y="59592"/>
                  </a:cubicBezTo>
                  <a:lnTo>
                    <a:pt x="0" y="59592"/>
                  </a:lnTo>
                  <a:cubicBezTo>
                    <a:pt x="0" y="26680"/>
                    <a:pt x="26680" y="0"/>
                    <a:pt x="59592" y="0"/>
                  </a:cubicBezTo>
                  <a:close/>
                </a:path>
              </a:pathLst>
            </a:custGeom>
            <a:solidFill>
              <a:srgbClr val="0D6676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19643" cy="1191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flipV="1">
            <a:off x="1504950" y="4404700"/>
            <a:ext cx="632812" cy="632812"/>
          </a:xfrm>
          <a:custGeom>
            <a:avLst/>
            <a:gdLst/>
            <a:ahLst/>
            <a:cxnLst/>
            <a:rect l="l" t="t" r="r" b="b"/>
            <a:pathLst>
              <a:path w="632812" h="632812">
                <a:moveTo>
                  <a:pt x="0" y="632813"/>
                </a:moveTo>
                <a:lnTo>
                  <a:pt x="632812" y="632813"/>
                </a:lnTo>
                <a:lnTo>
                  <a:pt x="632812" y="0"/>
                </a:lnTo>
                <a:lnTo>
                  <a:pt x="0" y="0"/>
                </a:lnTo>
                <a:lnTo>
                  <a:pt x="0" y="63281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043770" y="1286175"/>
            <a:ext cx="11111998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Metode Penelitian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43770" y="5525028"/>
            <a:ext cx="12210121" cy="1011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3"/>
              </a:lnSpc>
            </a:pPr>
            <a:r>
              <a:rPr lang="en-US" sz="289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Jaringan dimodelkan sebagai graf G = (V, E) di mana setiap (u, v) memiliki dua atribut bobot utama: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018617" y="4497664"/>
            <a:ext cx="7360538" cy="589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22"/>
              </a:lnSpc>
            </a:pPr>
            <a:r>
              <a:rPr lang="en-US" sz="3685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Pemodelan Matematis Jaringan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189498" y="4525752"/>
            <a:ext cx="363435" cy="46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4"/>
              </a:lnSpc>
            </a:pPr>
            <a:r>
              <a:rPr lang="en-US" sz="2895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04950" y="1526381"/>
            <a:ext cx="1647827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Projek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DAA 2025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4018964" y="6536617"/>
            <a:ext cx="13240336" cy="1013883"/>
            <a:chOff x="0" y="0"/>
            <a:chExt cx="17653782" cy="1351843"/>
          </a:xfrm>
        </p:grpSpPr>
        <p:sp>
          <p:nvSpPr>
            <p:cNvPr id="17" name="Freeform 17"/>
            <p:cNvSpPr/>
            <p:nvPr/>
          </p:nvSpPr>
          <p:spPr>
            <a:xfrm>
              <a:off x="14972689" y="804526"/>
              <a:ext cx="2681092" cy="543493"/>
            </a:xfrm>
            <a:custGeom>
              <a:avLst/>
              <a:gdLst/>
              <a:ahLst/>
              <a:cxnLst/>
              <a:rect l="l" t="t" r="r" b="b"/>
              <a:pathLst>
                <a:path w="2681092" h="543493">
                  <a:moveTo>
                    <a:pt x="0" y="0"/>
                  </a:moveTo>
                  <a:lnTo>
                    <a:pt x="2681093" y="0"/>
                  </a:lnTo>
                  <a:lnTo>
                    <a:pt x="2681093" y="543493"/>
                  </a:lnTo>
                  <a:lnTo>
                    <a:pt x="0" y="543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6198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8" name="Freeform 18"/>
            <p:cNvSpPr/>
            <p:nvPr/>
          </p:nvSpPr>
          <p:spPr>
            <a:xfrm>
              <a:off x="3431404" y="174408"/>
              <a:ext cx="949540" cy="493388"/>
            </a:xfrm>
            <a:custGeom>
              <a:avLst/>
              <a:gdLst/>
              <a:ahLst/>
              <a:cxnLst/>
              <a:rect l="l" t="t" r="r" b="b"/>
              <a:pathLst>
                <a:path w="949540" h="493388">
                  <a:moveTo>
                    <a:pt x="0" y="0"/>
                  </a:moveTo>
                  <a:lnTo>
                    <a:pt x="949540" y="0"/>
                  </a:lnTo>
                  <a:lnTo>
                    <a:pt x="949540" y="493388"/>
                  </a:lnTo>
                  <a:lnTo>
                    <a:pt x="0" y="4933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5470132" y="768407"/>
              <a:ext cx="1004662" cy="579612"/>
            </a:xfrm>
            <a:custGeom>
              <a:avLst/>
              <a:gdLst/>
              <a:ahLst/>
              <a:cxnLst/>
              <a:rect l="l" t="t" r="r" b="b"/>
              <a:pathLst>
                <a:path w="1004662" h="579612">
                  <a:moveTo>
                    <a:pt x="0" y="0"/>
                  </a:moveTo>
                  <a:lnTo>
                    <a:pt x="1004662" y="0"/>
                  </a:lnTo>
                  <a:lnTo>
                    <a:pt x="1004662" y="579612"/>
                  </a:lnTo>
                  <a:lnTo>
                    <a:pt x="0" y="57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0" name="Freeform 20"/>
            <p:cNvSpPr/>
            <p:nvPr/>
          </p:nvSpPr>
          <p:spPr>
            <a:xfrm>
              <a:off x="12048066" y="0"/>
              <a:ext cx="2363513" cy="768407"/>
            </a:xfrm>
            <a:custGeom>
              <a:avLst/>
              <a:gdLst/>
              <a:ahLst/>
              <a:cxnLst/>
              <a:rect l="l" t="t" r="r" b="b"/>
              <a:pathLst>
                <a:path w="2363513" h="768407">
                  <a:moveTo>
                    <a:pt x="0" y="0"/>
                  </a:moveTo>
                  <a:lnTo>
                    <a:pt x="2363513" y="0"/>
                  </a:lnTo>
                  <a:lnTo>
                    <a:pt x="2363513" y="768407"/>
                  </a:lnTo>
                  <a:lnTo>
                    <a:pt x="0" y="7684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22108"/>
              <a:ext cx="15557885" cy="13297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25155" lvl="1" indent="-312578" algn="l">
                <a:lnSpc>
                  <a:spcPts val="4053"/>
                </a:lnSpc>
                <a:buFont typeface="Arial"/>
                <a:buChar char="•"/>
              </a:pPr>
              <a:r>
                <a:rPr lang="en-US" sz="2895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Cost/Delay         : Metrik Aditif (untuk SP). Tujuan:</a:t>
              </a:r>
            </a:p>
            <a:p>
              <a:pPr marL="625155" lvl="1" indent="-312578" algn="l">
                <a:lnSpc>
                  <a:spcPts val="4053"/>
                </a:lnSpc>
                <a:buFont typeface="Arial"/>
                <a:buChar char="•"/>
              </a:pPr>
              <a:r>
                <a:rPr lang="en-US" sz="2895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Capacity/Bandwidth         : Metrik Concave (untuk BP). Tujuan: 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6676">
                <a:alpha val="100000"/>
              </a:srgbClr>
            </a:gs>
            <a:gs pos="100000">
              <a:srgbClr val="72BD51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V="1">
            <a:off x="11740165" y="1314750"/>
            <a:ext cx="6856495" cy="7088481"/>
          </a:xfrm>
          <a:custGeom>
            <a:avLst/>
            <a:gdLst/>
            <a:ahLst/>
            <a:cxnLst/>
            <a:rect l="l" t="t" r="r" b="b"/>
            <a:pathLst>
              <a:path w="6856495" h="7088481">
                <a:moveTo>
                  <a:pt x="0" y="7088481"/>
                </a:moveTo>
                <a:lnTo>
                  <a:pt x="6856495" y="7088481"/>
                </a:lnTo>
                <a:lnTo>
                  <a:pt x="6856495" y="0"/>
                </a:lnTo>
                <a:lnTo>
                  <a:pt x="0" y="0"/>
                </a:lnTo>
                <a:lnTo>
                  <a:pt x="0" y="70884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318326" y="1888331"/>
            <a:ext cx="8674579" cy="8674579"/>
          </a:xfrm>
          <a:custGeom>
            <a:avLst/>
            <a:gdLst/>
            <a:ahLst/>
            <a:cxnLst/>
            <a:rect l="l" t="t" r="r" b="b"/>
            <a:pathLst>
              <a:path w="8674579" h="8674579">
                <a:moveTo>
                  <a:pt x="8674579" y="0"/>
                </a:moveTo>
                <a:lnTo>
                  <a:pt x="0" y="0"/>
                </a:lnTo>
                <a:lnTo>
                  <a:pt x="0" y="8674579"/>
                </a:lnTo>
                <a:lnTo>
                  <a:pt x="8674579" y="8674579"/>
                </a:lnTo>
                <a:lnTo>
                  <a:pt x="867457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-1246071"/>
            <a:ext cx="18288000" cy="4680196"/>
            <a:chOff x="0" y="0"/>
            <a:chExt cx="4816593" cy="12326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1232644"/>
            </a:xfrm>
            <a:custGeom>
              <a:avLst/>
              <a:gdLst/>
              <a:ahLst/>
              <a:cxnLst/>
              <a:rect l="l" t="t" r="r" b="b"/>
              <a:pathLst>
                <a:path w="4816592" h="1232644">
                  <a:moveTo>
                    <a:pt x="38100" y="0"/>
                  </a:moveTo>
                  <a:lnTo>
                    <a:pt x="4778492" y="0"/>
                  </a:lnTo>
                  <a:cubicBezTo>
                    <a:pt x="4788597" y="0"/>
                    <a:pt x="4798288" y="4014"/>
                    <a:pt x="4805433" y="11159"/>
                  </a:cubicBezTo>
                  <a:cubicBezTo>
                    <a:pt x="4812578" y="18304"/>
                    <a:pt x="4816592" y="27995"/>
                    <a:pt x="4816592" y="38100"/>
                  </a:cubicBezTo>
                  <a:lnTo>
                    <a:pt x="4816592" y="1194544"/>
                  </a:lnTo>
                  <a:cubicBezTo>
                    <a:pt x="4816592" y="1215586"/>
                    <a:pt x="4799535" y="1232644"/>
                    <a:pt x="4778492" y="1232644"/>
                  </a:cubicBezTo>
                  <a:lnTo>
                    <a:pt x="38100" y="1232644"/>
                  </a:lnTo>
                  <a:cubicBezTo>
                    <a:pt x="17058" y="1232644"/>
                    <a:pt x="0" y="1215586"/>
                    <a:pt x="0" y="1194544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4816593" cy="12326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r>
                <a:rPr lang="en-US" sz="200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 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043770" y="4434989"/>
            <a:ext cx="654891" cy="652377"/>
            <a:chOff x="0" y="0"/>
            <a:chExt cx="119643" cy="11918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9643" cy="119184"/>
            </a:xfrm>
            <a:custGeom>
              <a:avLst/>
              <a:gdLst/>
              <a:ahLst/>
              <a:cxnLst/>
              <a:rect l="l" t="t" r="r" b="b"/>
              <a:pathLst>
                <a:path w="119643" h="119184">
                  <a:moveTo>
                    <a:pt x="59592" y="0"/>
                  </a:moveTo>
                  <a:lnTo>
                    <a:pt x="60051" y="0"/>
                  </a:lnTo>
                  <a:cubicBezTo>
                    <a:pt x="92963" y="0"/>
                    <a:pt x="119643" y="26680"/>
                    <a:pt x="119643" y="59592"/>
                  </a:cubicBezTo>
                  <a:lnTo>
                    <a:pt x="119643" y="59592"/>
                  </a:lnTo>
                  <a:cubicBezTo>
                    <a:pt x="119643" y="75397"/>
                    <a:pt x="113365" y="90554"/>
                    <a:pt x="102189" y="101730"/>
                  </a:cubicBezTo>
                  <a:cubicBezTo>
                    <a:pt x="91014" y="112906"/>
                    <a:pt x="75856" y="119184"/>
                    <a:pt x="60051" y="119184"/>
                  </a:cubicBezTo>
                  <a:lnTo>
                    <a:pt x="59592" y="119184"/>
                  </a:lnTo>
                  <a:cubicBezTo>
                    <a:pt x="26680" y="119184"/>
                    <a:pt x="0" y="92504"/>
                    <a:pt x="0" y="59592"/>
                  </a:cubicBezTo>
                  <a:lnTo>
                    <a:pt x="0" y="59592"/>
                  </a:lnTo>
                  <a:cubicBezTo>
                    <a:pt x="0" y="26680"/>
                    <a:pt x="26680" y="0"/>
                    <a:pt x="59592" y="0"/>
                  </a:cubicBezTo>
                  <a:close/>
                </a:path>
              </a:pathLst>
            </a:custGeom>
            <a:solidFill>
              <a:srgbClr val="0D6676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19643" cy="1191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flipV="1">
            <a:off x="1504950" y="4404700"/>
            <a:ext cx="632812" cy="632812"/>
          </a:xfrm>
          <a:custGeom>
            <a:avLst/>
            <a:gdLst/>
            <a:ahLst/>
            <a:cxnLst/>
            <a:rect l="l" t="t" r="r" b="b"/>
            <a:pathLst>
              <a:path w="632812" h="632812">
                <a:moveTo>
                  <a:pt x="0" y="632813"/>
                </a:moveTo>
                <a:lnTo>
                  <a:pt x="632812" y="632813"/>
                </a:lnTo>
                <a:lnTo>
                  <a:pt x="632812" y="0"/>
                </a:lnTo>
                <a:lnTo>
                  <a:pt x="0" y="0"/>
                </a:lnTo>
                <a:lnTo>
                  <a:pt x="0" y="63281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602464" y="5390344"/>
            <a:ext cx="6192844" cy="3867956"/>
          </a:xfrm>
          <a:custGeom>
            <a:avLst/>
            <a:gdLst/>
            <a:ahLst/>
            <a:cxnLst/>
            <a:rect l="l" t="t" r="r" b="b"/>
            <a:pathLst>
              <a:path w="6192844" h="3867956">
                <a:moveTo>
                  <a:pt x="0" y="0"/>
                </a:moveTo>
                <a:lnTo>
                  <a:pt x="6192844" y="0"/>
                </a:lnTo>
                <a:lnTo>
                  <a:pt x="6192844" y="3867956"/>
                </a:lnTo>
                <a:lnTo>
                  <a:pt x="0" y="38679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043770" y="1286175"/>
            <a:ext cx="11111998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Metode Penelitian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018617" y="4497664"/>
            <a:ext cx="7360538" cy="589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22"/>
              </a:lnSpc>
            </a:pPr>
            <a:r>
              <a:rPr lang="en-US" sz="3685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Pemodelan Matematis Jaringan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189498" y="4525752"/>
            <a:ext cx="363435" cy="46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4"/>
              </a:lnSpc>
            </a:pPr>
            <a:r>
              <a:rPr lang="en-US" sz="2895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04950" y="1526381"/>
            <a:ext cx="1647827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Projek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DAA 2025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6676">
                <a:alpha val="100000"/>
              </a:srgbClr>
            </a:gs>
            <a:gs pos="100000">
              <a:srgbClr val="72BD51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V="1">
            <a:off x="11740165" y="1314750"/>
            <a:ext cx="6856495" cy="7088481"/>
          </a:xfrm>
          <a:custGeom>
            <a:avLst/>
            <a:gdLst/>
            <a:ahLst/>
            <a:cxnLst/>
            <a:rect l="l" t="t" r="r" b="b"/>
            <a:pathLst>
              <a:path w="6856495" h="7088481">
                <a:moveTo>
                  <a:pt x="0" y="7088481"/>
                </a:moveTo>
                <a:lnTo>
                  <a:pt x="6856495" y="7088481"/>
                </a:lnTo>
                <a:lnTo>
                  <a:pt x="6856495" y="0"/>
                </a:lnTo>
                <a:lnTo>
                  <a:pt x="0" y="0"/>
                </a:lnTo>
                <a:lnTo>
                  <a:pt x="0" y="70884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318326" y="1888331"/>
            <a:ext cx="8674579" cy="8674579"/>
          </a:xfrm>
          <a:custGeom>
            <a:avLst/>
            <a:gdLst/>
            <a:ahLst/>
            <a:cxnLst/>
            <a:rect l="l" t="t" r="r" b="b"/>
            <a:pathLst>
              <a:path w="8674579" h="8674579">
                <a:moveTo>
                  <a:pt x="8674579" y="0"/>
                </a:moveTo>
                <a:lnTo>
                  <a:pt x="0" y="0"/>
                </a:lnTo>
                <a:lnTo>
                  <a:pt x="0" y="8674579"/>
                </a:lnTo>
                <a:lnTo>
                  <a:pt x="8674579" y="8674579"/>
                </a:lnTo>
                <a:lnTo>
                  <a:pt x="867457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-1246071"/>
            <a:ext cx="18288000" cy="4680196"/>
            <a:chOff x="0" y="0"/>
            <a:chExt cx="4816593" cy="12326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1232644"/>
            </a:xfrm>
            <a:custGeom>
              <a:avLst/>
              <a:gdLst/>
              <a:ahLst/>
              <a:cxnLst/>
              <a:rect l="l" t="t" r="r" b="b"/>
              <a:pathLst>
                <a:path w="4816592" h="1232644">
                  <a:moveTo>
                    <a:pt x="38100" y="0"/>
                  </a:moveTo>
                  <a:lnTo>
                    <a:pt x="4778492" y="0"/>
                  </a:lnTo>
                  <a:cubicBezTo>
                    <a:pt x="4788597" y="0"/>
                    <a:pt x="4798288" y="4014"/>
                    <a:pt x="4805433" y="11159"/>
                  </a:cubicBezTo>
                  <a:cubicBezTo>
                    <a:pt x="4812578" y="18304"/>
                    <a:pt x="4816592" y="27995"/>
                    <a:pt x="4816592" y="38100"/>
                  </a:cubicBezTo>
                  <a:lnTo>
                    <a:pt x="4816592" y="1194544"/>
                  </a:lnTo>
                  <a:cubicBezTo>
                    <a:pt x="4816592" y="1215586"/>
                    <a:pt x="4799535" y="1232644"/>
                    <a:pt x="4778492" y="1232644"/>
                  </a:cubicBezTo>
                  <a:lnTo>
                    <a:pt x="38100" y="1232644"/>
                  </a:lnTo>
                  <a:cubicBezTo>
                    <a:pt x="17058" y="1232644"/>
                    <a:pt x="0" y="1215586"/>
                    <a:pt x="0" y="1194544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4816593" cy="12326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043770" y="1286175"/>
            <a:ext cx="11111998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Metode Penelitian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043770" y="6410334"/>
            <a:ext cx="10445586" cy="3051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Dua algoritma dibandingkan dalam simulasi: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Dijkstra Standar (SP): Mencari total biaya minimum dengan operasi aljabar (min, +).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Modified Dijkstra (BP): Mencari kapasitas bottleneck maksimum dengan operasi aljabar (max, min), menggunakan max-priority queue untuk menyebarkan nilai kapasitas minimum terbesar.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407867" y="4946095"/>
            <a:ext cx="8028961" cy="819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88"/>
              </a:lnSpc>
            </a:pPr>
            <a:r>
              <a:rPr lang="en-US" sz="5156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Implementasi Algoritma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04950" y="1526381"/>
            <a:ext cx="1647827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Projek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DAA 2025</a:t>
            </a:r>
          </a:p>
        </p:txBody>
      </p:sp>
      <p:sp>
        <p:nvSpPr>
          <p:cNvPr id="11" name="Freeform 11"/>
          <p:cNvSpPr/>
          <p:nvPr/>
        </p:nvSpPr>
        <p:spPr>
          <a:xfrm flipV="1">
            <a:off x="1504950" y="4404700"/>
            <a:ext cx="632812" cy="632812"/>
          </a:xfrm>
          <a:custGeom>
            <a:avLst/>
            <a:gdLst/>
            <a:ahLst/>
            <a:cxnLst/>
            <a:rect l="l" t="t" r="r" b="b"/>
            <a:pathLst>
              <a:path w="632812" h="632812">
                <a:moveTo>
                  <a:pt x="0" y="632813"/>
                </a:moveTo>
                <a:lnTo>
                  <a:pt x="632812" y="632813"/>
                </a:lnTo>
                <a:lnTo>
                  <a:pt x="632812" y="0"/>
                </a:lnTo>
                <a:lnTo>
                  <a:pt x="0" y="0"/>
                </a:lnTo>
                <a:lnTo>
                  <a:pt x="0" y="63281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4043770" y="4923213"/>
            <a:ext cx="916384" cy="912867"/>
            <a:chOff x="0" y="0"/>
            <a:chExt cx="119643" cy="11918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9643" cy="119184"/>
            </a:xfrm>
            <a:custGeom>
              <a:avLst/>
              <a:gdLst/>
              <a:ahLst/>
              <a:cxnLst/>
              <a:rect l="l" t="t" r="r" b="b"/>
              <a:pathLst>
                <a:path w="119643" h="119184">
                  <a:moveTo>
                    <a:pt x="59592" y="0"/>
                  </a:moveTo>
                  <a:lnTo>
                    <a:pt x="60051" y="0"/>
                  </a:lnTo>
                  <a:cubicBezTo>
                    <a:pt x="92963" y="0"/>
                    <a:pt x="119643" y="26680"/>
                    <a:pt x="119643" y="59592"/>
                  </a:cubicBezTo>
                  <a:lnTo>
                    <a:pt x="119643" y="59592"/>
                  </a:lnTo>
                  <a:cubicBezTo>
                    <a:pt x="119643" y="75397"/>
                    <a:pt x="113365" y="90554"/>
                    <a:pt x="102189" y="101730"/>
                  </a:cubicBezTo>
                  <a:cubicBezTo>
                    <a:pt x="91014" y="112906"/>
                    <a:pt x="75856" y="119184"/>
                    <a:pt x="60051" y="119184"/>
                  </a:cubicBezTo>
                  <a:lnTo>
                    <a:pt x="59592" y="119184"/>
                  </a:lnTo>
                  <a:cubicBezTo>
                    <a:pt x="26680" y="119184"/>
                    <a:pt x="0" y="92504"/>
                    <a:pt x="0" y="59592"/>
                  </a:cubicBezTo>
                  <a:lnTo>
                    <a:pt x="0" y="59592"/>
                  </a:lnTo>
                  <a:cubicBezTo>
                    <a:pt x="0" y="26680"/>
                    <a:pt x="26680" y="0"/>
                    <a:pt x="59592" y="0"/>
                  </a:cubicBezTo>
                  <a:close/>
                </a:path>
              </a:pathLst>
            </a:custGeom>
            <a:solidFill>
              <a:srgbClr val="0D6676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119643" cy="1191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247686" y="5042576"/>
            <a:ext cx="508551" cy="661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2"/>
              </a:lnSpc>
            </a:pPr>
            <a:r>
              <a:rPr lang="en-US" sz="4051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6676">
                <a:alpha val="100000"/>
              </a:srgbClr>
            </a:gs>
            <a:gs pos="100000">
              <a:srgbClr val="72BD51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V="1">
            <a:off x="11740165" y="1314750"/>
            <a:ext cx="6856495" cy="7088481"/>
          </a:xfrm>
          <a:custGeom>
            <a:avLst/>
            <a:gdLst/>
            <a:ahLst/>
            <a:cxnLst/>
            <a:rect l="l" t="t" r="r" b="b"/>
            <a:pathLst>
              <a:path w="6856495" h="7088481">
                <a:moveTo>
                  <a:pt x="0" y="7088481"/>
                </a:moveTo>
                <a:lnTo>
                  <a:pt x="6856495" y="7088481"/>
                </a:lnTo>
                <a:lnTo>
                  <a:pt x="6856495" y="0"/>
                </a:lnTo>
                <a:lnTo>
                  <a:pt x="0" y="0"/>
                </a:lnTo>
                <a:lnTo>
                  <a:pt x="0" y="70884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318326" y="1888331"/>
            <a:ext cx="8674579" cy="8674579"/>
          </a:xfrm>
          <a:custGeom>
            <a:avLst/>
            <a:gdLst/>
            <a:ahLst/>
            <a:cxnLst/>
            <a:rect l="l" t="t" r="r" b="b"/>
            <a:pathLst>
              <a:path w="8674579" h="8674579">
                <a:moveTo>
                  <a:pt x="8674579" y="0"/>
                </a:moveTo>
                <a:lnTo>
                  <a:pt x="0" y="0"/>
                </a:lnTo>
                <a:lnTo>
                  <a:pt x="0" y="8674579"/>
                </a:lnTo>
                <a:lnTo>
                  <a:pt x="8674579" y="8674579"/>
                </a:lnTo>
                <a:lnTo>
                  <a:pt x="867457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-1246071"/>
            <a:ext cx="18288000" cy="4680196"/>
            <a:chOff x="0" y="0"/>
            <a:chExt cx="4816593" cy="12326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1232644"/>
            </a:xfrm>
            <a:custGeom>
              <a:avLst/>
              <a:gdLst/>
              <a:ahLst/>
              <a:cxnLst/>
              <a:rect l="l" t="t" r="r" b="b"/>
              <a:pathLst>
                <a:path w="4816592" h="1232644">
                  <a:moveTo>
                    <a:pt x="38100" y="0"/>
                  </a:moveTo>
                  <a:lnTo>
                    <a:pt x="4778492" y="0"/>
                  </a:lnTo>
                  <a:cubicBezTo>
                    <a:pt x="4788597" y="0"/>
                    <a:pt x="4798288" y="4014"/>
                    <a:pt x="4805433" y="11159"/>
                  </a:cubicBezTo>
                  <a:cubicBezTo>
                    <a:pt x="4812578" y="18304"/>
                    <a:pt x="4816592" y="27995"/>
                    <a:pt x="4816592" y="38100"/>
                  </a:cubicBezTo>
                  <a:lnTo>
                    <a:pt x="4816592" y="1194544"/>
                  </a:lnTo>
                  <a:cubicBezTo>
                    <a:pt x="4816592" y="1215586"/>
                    <a:pt x="4799535" y="1232644"/>
                    <a:pt x="4778492" y="1232644"/>
                  </a:cubicBezTo>
                  <a:lnTo>
                    <a:pt x="38100" y="1232644"/>
                  </a:lnTo>
                  <a:cubicBezTo>
                    <a:pt x="17058" y="1232644"/>
                    <a:pt x="0" y="1215586"/>
                    <a:pt x="0" y="1194544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4816593" cy="12326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flipV="1">
            <a:off x="1504950" y="4404700"/>
            <a:ext cx="632812" cy="632812"/>
          </a:xfrm>
          <a:custGeom>
            <a:avLst/>
            <a:gdLst/>
            <a:ahLst/>
            <a:cxnLst/>
            <a:rect l="l" t="t" r="r" b="b"/>
            <a:pathLst>
              <a:path w="632812" h="632812">
                <a:moveTo>
                  <a:pt x="0" y="632813"/>
                </a:moveTo>
                <a:lnTo>
                  <a:pt x="632812" y="632813"/>
                </a:lnTo>
                <a:lnTo>
                  <a:pt x="632812" y="0"/>
                </a:lnTo>
                <a:lnTo>
                  <a:pt x="0" y="0"/>
                </a:lnTo>
                <a:lnTo>
                  <a:pt x="0" y="63281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4043770" y="3928905"/>
            <a:ext cx="1112363" cy="1108094"/>
            <a:chOff x="0" y="0"/>
            <a:chExt cx="119643" cy="11918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9643" cy="119184"/>
            </a:xfrm>
            <a:custGeom>
              <a:avLst/>
              <a:gdLst/>
              <a:ahLst/>
              <a:cxnLst/>
              <a:rect l="l" t="t" r="r" b="b"/>
              <a:pathLst>
                <a:path w="119643" h="119184">
                  <a:moveTo>
                    <a:pt x="59592" y="0"/>
                  </a:moveTo>
                  <a:lnTo>
                    <a:pt x="60051" y="0"/>
                  </a:lnTo>
                  <a:cubicBezTo>
                    <a:pt x="92963" y="0"/>
                    <a:pt x="119643" y="26680"/>
                    <a:pt x="119643" y="59592"/>
                  </a:cubicBezTo>
                  <a:lnTo>
                    <a:pt x="119643" y="59592"/>
                  </a:lnTo>
                  <a:cubicBezTo>
                    <a:pt x="119643" y="75397"/>
                    <a:pt x="113365" y="90554"/>
                    <a:pt x="102189" y="101730"/>
                  </a:cubicBezTo>
                  <a:cubicBezTo>
                    <a:pt x="91014" y="112906"/>
                    <a:pt x="75856" y="119184"/>
                    <a:pt x="60051" y="119184"/>
                  </a:cubicBezTo>
                  <a:lnTo>
                    <a:pt x="59592" y="119184"/>
                  </a:lnTo>
                  <a:cubicBezTo>
                    <a:pt x="26680" y="119184"/>
                    <a:pt x="0" y="92504"/>
                    <a:pt x="0" y="59592"/>
                  </a:cubicBezTo>
                  <a:lnTo>
                    <a:pt x="0" y="59592"/>
                  </a:lnTo>
                  <a:cubicBezTo>
                    <a:pt x="0" y="26680"/>
                    <a:pt x="26680" y="0"/>
                    <a:pt x="59592" y="0"/>
                  </a:cubicBezTo>
                  <a:close/>
                </a:path>
              </a:pathLst>
            </a:custGeom>
            <a:solidFill>
              <a:srgbClr val="0D6676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119643" cy="1191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043770" y="1286175"/>
            <a:ext cx="11111998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Metode Penelitian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43770" y="5411801"/>
            <a:ext cx="12679486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Dirancang topologi 6 node (A ke F) yang sengaja menciptakan konflik antara jalur terpendek dan jalur berkapasitas tinggi.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99594" y="3938290"/>
            <a:ext cx="9180493" cy="1013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11"/>
              </a:lnSpc>
            </a:pPr>
            <a:r>
              <a:rPr lang="en-US" sz="6259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Desain Skenario Uji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04950" y="1526381"/>
            <a:ext cx="1647827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Projek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DAA 2025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291296" y="4064930"/>
            <a:ext cx="617311" cy="811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01"/>
              </a:lnSpc>
            </a:pPr>
            <a:r>
              <a:rPr lang="en-US" sz="4918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9745F60-CAA5-A026-864E-F1DE94976A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10247" y="6515100"/>
            <a:ext cx="12929953" cy="314929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6676">
                <a:alpha val="100000"/>
              </a:srgbClr>
            </a:gs>
            <a:gs pos="100000">
              <a:srgbClr val="72BD51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V="1">
            <a:off x="11740165" y="1314750"/>
            <a:ext cx="6856495" cy="7088481"/>
          </a:xfrm>
          <a:custGeom>
            <a:avLst/>
            <a:gdLst/>
            <a:ahLst/>
            <a:cxnLst/>
            <a:rect l="l" t="t" r="r" b="b"/>
            <a:pathLst>
              <a:path w="6856495" h="7088481">
                <a:moveTo>
                  <a:pt x="0" y="7088481"/>
                </a:moveTo>
                <a:lnTo>
                  <a:pt x="6856495" y="7088481"/>
                </a:lnTo>
                <a:lnTo>
                  <a:pt x="6856495" y="0"/>
                </a:lnTo>
                <a:lnTo>
                  <a:pt x="0" y="0"/>
                </a:lnTo>
                <a:lnTo>
                  <a:pt x="0" y="70884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318326" y="1888331"/>
            <a:ext cx="8674579" cy="8674579"/>
          </a:xfrm>
          <a:custGeom>
            <a:avLst/>
            <a:gdLst/>
            <a:ahLst/>
            <a:cxnLst/>
            <a:rect l="l" t="t" r="r" b="b"/>
            <a:pathLst>
              <a:path w="8674579" h="8674579">
                <a:moveTo>
                  <a:pt x="8674579" y="0"/>
                </a:moveTo>
                <a:lnTo>
                  <a:pt x="0" y="0"/>
                </a:lnTo>
                <a:lnTo>
                  <a:pt x="0" y="8674579"/>
                </a:lnTo>
                <a:lnTo>
                  <a:pt x="8674579" y="8674579"/>
                </a:lnTo>
                <a:lnTo>
                  <a:pt x="867457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-1246071"/>
            <a:ext cx="18288000" cy="4680196"/>
            <a:chOff x="0" y="0"/>
            <a:chExt cx="4816593" cy="12326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1232644"/>
            </a:xfrm>
            <a:custGeom>
              <a:avLst/>
              <a:gdLst/>
              <a:ahLst/>
              <a:cxnLst/>
              <a:rect l="l" t="t" r="r" b="b"/>
              <a:pathLst>
                <a:path w="4816592" h="1232644">
                  <a:moveTo>
                    <a:pt x="38100" y="0"/>
                  </a:moveTo>
                  <a:lnTo>
                    <a:pt x="4778492" y="0"/>
                  </a:lnTo>
                  <a:cubicBezTo>
                    <a:pt x="4788597" y="0"/>
                    <a:pt x="4798288" y="4014"/>
                    <a:pt x="4805433" y="11159"/>
                  </a:cubicBezTo>
                  <a:cubicBezTo>
                    <a:pt x="4812578" y="18304"/>
                    <a:pt x="4816592" y="27995"/>
                    <a:pt x="4816592" y="38100"/>
                  </a:cubicBezTo>
                  <a:lnTo>
                    <a:pt x="4816592" y="1194544"/>
                  </a:lnTo>
                  <a:cubicBezTo>
                    <a:pt x="4816592" y="1215586"/>
                    <a:pt x="4799535" y="1232644"/>
                    <a:pt x="4778492" y="1232644"/>
                  </a:cubicBezTo>
                  <a:lnTo>
                    <a:pt x="38100" y="1232644"/>
                  </a:lnTo>
                  <a:cubicBezTo>
                    <a:pt x="17058" y="1232644"/>
                    <a:pt x="0" y="1215586"/>
                    <a:pt x="0" y="1194544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4816593" cy="12326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flipV="1">
            <a:off x="1504950" y="4404700"/>
            <a:ext cx="632812" cy="632812"/>
          </a:xfrm>
          <a:custGeom>
            <a:avLst/>
            <a:gdLst/>
            <a:ahLst/>
            <a:cxnLst/>
            <a:rect l="l" t="t" r="r" b="b"/>
            <a:pathLst>
              <a:path w="632812" h="632812">
                <a:moveTo>
                  <a:pt x="0" y="632813"/>
                </a:moveTo>
                <a:lnTo>
                  <a:pt x="632812" y="632813"/>
                </a:lnTo>
                <a:lnTo>
                  <a:pt x="632812" y="0"/>
                </a:lnTo>
                <a:lnTo>
                  <a:pt x="0" y="0"/>
                </a:lnTo>
                <a:lnTo>
                  <a:pt x="0" y="63281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4043770" y="3928905"/>
            <a:ext cx="1112363" cy="1108094"/>
            <a:chOff x="0" y="0"/>
            <a:chExt cx="119643" cy="11918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9643" cy="119184"/>
            </a:xfrm>
            <a:custGeom>
              <a:avLst/>
              <a:gdLst/>
              <a:ahLst/>
              <a:cxnLst/>
              <a:rect l="l" t="t" r="r" b="b"/>
              <a:pathLst>
                <a:path w="119643" h="119184">
                  <a:moveTo>
                    <a:pt x="59592" y="0"/>
                  </a:moveTo>
                  <a:lnTo>
                    <a:pt x="60051" y="0"/>
                  </a:lnTo>
                  <a:cubicBezTo>
                    <a:pt x="92963" y="0"/>
                    <a:pt x="119643" y="26680"/>
                    <a:pt x="119643" y="59592"/>
                  </a:cubicBezTo>
                  <a:lnTo>
                    <a:pt x="119643" y="59592"/>
                  </a:lnTo>
                  <a:cubicBezTo>
                    <a:pt x="119643" y="75397"/>
                    <a:pt x="113365" y="90554"/>
                    <a:pt x="102189" y="101730"/>
                  </a:cubicBezTo>
                  <a:cubicBezTo>
                    <a:pt x="91014" y="112906"/>
                    <a:pt x="75856" y="119184"/>
                    <a:pt x="60051" y="119184"/>
                  </a:cubicBezTo>
                  <a:lnTo>
                    <a:pt x="59592" y="119184"/>
                  </a:lnTo>
                  <a:cubicBezTo>
                    <a:pt x="26680" y="119184"/>
                    <a:pt x="0" y="92504"/>
                    <a:pt x="0" y="59592"/>
                  </a:cubicBezTo>
                  <a:lnTo>
                    <a:pt x="0" y="59592"/>
                  </a:lnTo>
                  <a:cubicBezTo>
                    <a:pt x="0" y="26680"/>
                    <a:pt x="26680" y="0"/>
                    <a:pt x="59592" y="0"/>
                  </a:cubicBezTo>
                  <a:close/>
                </a:path>
              </a:pathLst>
            </a:custGeom>
            <a:solidFill>
              <a:srgbClr val="0D6676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119643" cy="1191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5857239" y="5143500"/>
            <a:ext cx="6573521" cy="4490221"/>
          </a:xfrm>
          <a:custGeom>
            <a:avLst/>
            <a:gdLst/>
            <a:ahLst/>
            <a:cxnLst/>
            <a:rect l="l" t="t" r="r" b="b"/>
            <a:pathLst>
              <a:path w="6573521" h="4490221">
                <a:moveTo>
                  <a:pt x="0" y="0"/>
                </a:moveTo>
                <a:lnTo>
                  <a:pt x="6573522" y="0"/>
                </a:lnTo>
                <a:lnTo>
                  <a:pt x="6573522" y="4490221"/>
                </a:lnTo>
                <a:lnTo>
                  <a:pt x="0" y="44902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TextBox 12"/>
          <p:cNvSpPr txBox="1"/>
          <p:nvPr/>
        </p:nvSpPr>
        <p:spPr>
          <a:xfrm>
            <a:off x="4043770" y="1286175"/>
            <a:ext cx="11111998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Metode Penelitian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99594" y="3938290"/>
            <a:ext cx="9180493" cy="1013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11"/>
              </a:lnSpc>
            </a:pPr>
            <a:r>
              <a:rPr lang="en-US" sz="6259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Desain Skenario Uji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04950" y="1526381"/>
            <a:ext cx="1647827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Projek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DAA 2025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291296" y="4064930"/>
            <a:ext cx="617311" cy="811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01"/>
              </a:lnSpc>
            </a:pPr>
            <a:r>
              <a:rPr lang="en-US" sz="4918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6676">
                <a:alpha val="100000"/>
              </a:srgbClr>
            </a:gs>
            <a:gs pos="100000">
              <a:srgbClr val="72BD51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V="1">
            <a:off x="11740165" y="1314750"/>
            <a:ext cx="6856495" cy="7088481"/>
          </a:xfrm>
          <a:custGeom>
            <a:avLst/>
            <a:gdLst/>
            <a:ahLst/>
            <a:cxnLst/>
            <a:rect l="l" t="t" r="r" b="b"/>
            <a:pathLst>
              <a:path w="6856495" h="7088481">
                <a:moveTo>
                  <a:pt x="0" y="7088481"/>
                </a:moveTo>
                <a:lnTo>
                  <a:pt x="6856495" y="7088481"/>
                </a:lnTo>
                <a:lnTo>
                  <a:pt x="6856495" y="0"/>
                </a:lnTo>
                <a:lnTo>
                  <a:pt x="0" y="0"/>
                </a:lnTo>
                <a:lnTo>
                  <a:pt x="0" y="70884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318326" y="1888331"/>
            <a:ext cx="8674579" cy="8674579"/>
          </a:xfrm>
          <a:custGeom>
            <a:avLst/>
            <a:gdLst/>
            <a:ahLst/>
            <a:cxnLst/>
            <a:rect l="l" t="t" r="r" b="b"/>
            <a:pathLst>
              <a:path w="8674579" h="8674579">
                <a:moveTo>
                  <a:pt x="8674579" y="0"/>
                </a:moveTo>
                <a:lnTo>
                  <a:pt x="0" y="0"/>
                </a:lnTo>
                <a:lnTo>
                  <a:pt x="0" y="8674579"/>
                </a:lnTo>
                <a:lnTo>
                  <a:pt x="8674579" y="8674579"/>
                </a:lnTo>
                <a:lnTo>
                  <a:pt x="867457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-1246071"/>
            <a:ext cx="18288000" cy="4680196"/>
            <a:chOff x="0" y="0"/>
            <a:chExt cx="4816593" cy="12326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1232644"/>
            </a:xfrm>
            <a:custGeom>
              <a:avLst/>
              <a:gdLst/>
              <a:ahLst/>
              <a:cxnLst/>
              <a:rect l="l" t="t" r="r" b="b"/>
              <a:pathLst>
                <a:path w="4816592" h="1232644">
                  <a:moveTo>
                    <a:pt x="38100" y="0"/>
                  </a:moveTo>
                  <a:lnTo>
                    <a:pt x="4778492" y="0"/>
                  </a:lnTo>
                  <a:cubicBezTo>
                    <a:pt x="4788597" y="0"/>
                    <a:pt x="4798288" y="4014"/>
                    <a:pt x="4805433" y="11159"/>
                  </a:cubicBezTo>
                  <a:cubicBezTo>
                    <a:pt x="4812578" y="18304"/>
                    <a:pt x="4816592" y="27995"/>
                    <a:pt x="4816592" y="38100"/>
                  </a:cubicBezTo>
                  <a:lnTo>
                    <a:pt x="4816592" y="1194544"/>
                  </a:lnTo>
                  <a:cubicBezTo>
                    <a:pt x="4816592" y="1215586"/>
                    <a:pt x="4799535" y="1232644"/>
                    <a:pt x="4778492" y="1232644"/>
                  </a:cubicBezTo>
                  <a:lnTo>
                    <a:pt x="38100" y="1232644"/>
                  </a:lnTo>
                  <a:cubicBezTo>
                    <a:pt x="17058" y="1232644"/>
                    <a:pt x="0" y="1215586"/>
                    <a:pt x="0" y="1194544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4816593" cy="12326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043770" y="1286175"/>
            <a:ext cx="11111998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Metode Penelitian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018964" y="6168471"/>
            <a:ext cx="12828680" cy="2462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Analisis komparatif dilakukan berdasarkan metrik QoS berikut: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End-to-end throughput (Tujuan: Maksimasi)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Hop count (Tujuan: Minimasi)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Path efficiency (Tujuan: Maksimasi)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694271" y="4741024"/>
            <a:ext cx="10605851" cy="1014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99"/>
              </a:lnSpc>
            </a:pPr>
            <a:r>
              <a:rPr lang="en-US" sz="6333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Parameter Evaluasi Kerja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04950" y="1526381"/>
            <a:ext cx="1647827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Projek</a:t>
            </a: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DAA 2025</a:t>
            </a:r>
          </a:p>
        </p:txBody>
      </p:sp>
      <p:sp>
        <p:nvSpPr>
          <p:cNvPr id="11" name="Freeform 11"/>
          <p:cNvSpPr/>
          <p:nvPr/>
        </p:nvSpPr>
        <p:spPr>
          <a:xfrm flipV="1">
            <a:off x="1504950" y="4404700"/>
            <a:ext cx="632812" cy="632812"/>
          </a:xfrm>
          <a:custGeom>
            <a:avLst/>
            <a:gdLst/>
            <a:ahLst/>
            <a:cxnLst/>
            <a:rect l="l" t="t" r="r" b="b"/>
            <a:pathLst>
              <a:path w="632812" h="632812">
                <a:moveTo>
                  <a:pt x="0" y="632813"/>
                </a:moveTo>
                <a:lnTo>
                  <a:pt x="632812" y="632813"/>
                </a:lnTo>
                <a:lnTo>
                  <a:pt x="632812" y="0"/>
                </a:lnTo>
                <a:lnTo>
                  <a:pt x="0" y="0"/>
                </a:lnTo>
                <a:lnTo>
                  <a:pt x="0" y="63281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4018964" y="4721107"/>
            <a:ext cx="1125451" cy="1121132"/>
            <a:chOff x="0" y="0"/>
            <a:chExt cx="119643" cy="11918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9643" cy="119184"/>
            </a:xfrm>
            <a:custGeom>
              <a:avLst/>
              <a:gdLst/>
              <a:ahLst/>
              <a:cxnLst/>
              <a:rect l="l" t="t" r="r" b="b"/>
              <a:pathLst>
                <a:path w="119643" h="119184">
                  <a:moveTo>
                    <a:pt x="59592" y="0"/>
                  </a:moveTo>
                  <a:lnTo>
                    <a:pt x="60051" y="0"/>
                  </a:lnTo>
                  <a:cubicBezTo>
                    <a:pt x="92963" y="0"/>
                    <a:pt x="119643" y="26680"/>
                    <a:pt x="119643" y="59592"/>
                  </a:cubicBezTo>
                  <a:lnTo>
                    <a:pt x="119643" y="59592"/>
                  </a:lnTo>
                  <a:cubicBezTo>
                    <a:pt x="119643" y="75397"/>
                    <a:pt x="113365" y="90554"/>
                    <a:pt x="102189" y="101730"/>
                  </a:cubicBezTo>
                  <a:cubicBezTo>
                    <a:pt x="91014" y="112906"/>
                    <a:pt x="75856" y="119184"/>
                    <a:pt x="60051" y="119184"/>
                  </a:cubicBezTo>
                  <a:lnTo>
                    <a:pt x="59592" y="119184"/>
                  </a:lnTo>
                  <a:cubicBezTo>
                    <a:pt x="26680" y="119184"/>
                    <a:pt x="0" y="92504"/>
                    <a:pt x="0" y="59592"/>
                  </a:cubicBezTo>
                  <a:lnTo>
                    <a:pt x="0" y="59592"/>
                  </a:lnTo>
                  <a:cubicBezTo>
                    <a:pt x="0" y="26680"/>
                    <a:pt x="26680" y="0"/>
                    <a:pt x="59592" y="0"/>
                  </a:cubicBezTo>
                  <a:close/>
                </a:path>
              </a:pathLst>
            </a:custGeom>
            <a:solidFill>
              <a:srgbClr val="0D6676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119643" cy="1191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269402" y="4859518"/>
            <a:ext cx="624574" cy="820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71"/>
              </a:lnSpc>
            </a:pPr>
            <a:r>
              <a:rPr lang="en-US" sz="4976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4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49193" y="1622176"/>
            <a:ext cx="6910107" cy="950016"/>
            <a:chOff x="0" y="0"/>
            <a:chExt cx="1661550" cy="2284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61550" cy="228433"/>
            </a:xfrm>
            <a:custGeom>
              <a:avLst/>
              <a:gdLst/>
              <a:ahLst/>
              <a:cxnLst/>
              <a:rect l="l" t="t" r="r" b="b"/>
              <a:pathLst>
                <a:path w="1661550" h="228433">
                  <a:moveTo>
                    <a:pt x="22408" y="0"/>
                  </a:moveTo>
                  <a:lnTo>
                    <a:pt x="1639142" y="0"/>
                  </a:lnTo>
                  <a:cubicBezTo>
                    <a:pt x="1645085" y="0"/>
                    <a:pt x="1650785" y="2361"/>
                    <a:pt x="1654987" y="6563"/>
                  </a:cubicBezTo>
                  <a:cubicBezTo>
                    <a:pt x="1659189" y="10765"/>
                    <a:pt x="1661550" y="16465"/>
                    <a:pt x="1661550" y="22408"/>
                  </a:cubicBezTo>
                  <a:lnTo>
                    <a:pt x="1661550" y="206026"/>
                  </a:lnTo>
                  <a:cubicBezTo>
                    <a:pt x="1661550" y="211969"/>
                    <a:pt x="1659189" y="217668"/>
                    <a:pt x="1654987" y="221870"/>
                  </a:cubicBezTo>
                  <a:cubicBezTo>
                    <a:pt x="1650785" y="226072"/>
                    <a:pt x="1645085" y="228433"/>
                    <a:pt x="1639142" y="228433"/>
                  </a:cubicBezTo>
                  <a:lnTo>
                    <a:pt x="22408" y="228433"/>
                  </a:lnTo>
                  <a:cubicBezTo>
                    <a:pt x="16465" y="228433"/>
                    <a:pt x="10765" y="226072"/>
                    <a:pt x="6563" y="221870"/>
                  </a:cubicBezTo>
                  <a:cubicBezTo>
                    <a:pt x="2361" y="217668"/>
                    <a:pt x="0" y="211969"/>
                    <a:pt x="0" y="206026"/>
                  </a:cubicBezTo>
                  <a:lnTo>
                    <a:pt x="0" y="22408"/>
                  </a:lnTo>
                  <a:cubicBezTo>
                    <a:pt x="0" y="16465"/>
                    <a:pt x="2361" y="10765"/>
                    <a:pt x="6563" y="6563"/>
                  </a:cubicBezTo>
                  <a:cubicBezTo>
                    <a:pt x="10765" y="2361"/>
                    <a:pt x="16465" y="0"/>
                    <a:pt x="22408" y="0"/>
                  </a:cubicBezTo>
                  <a:close/>
                </a:path>
              </a:pathLst>
            </a:custGeom>
            <a:solidFill>
              <a:srgbClr val="0D667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661550" cy="228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663326" y="1849350"/>
            <a:ext cx="537309" cy="495667"/>
          </a:xfrm>
          <a:custGeom>
            <a:avLst/>
            <a:gdLst/>
            <a:ahLst/>
            <a:cxnLst/>
            <a:rect l="l" t="t" r="r" b="b"/>
            <a:pathLst>
              <a:path w="537309" h="495667">
                <a:moveTo>
                  <a:pt x="0" y="0"/>
                </a:moveTo>
                <a:lnTo>
                  <a:pt x="537308" y="0"/>
                </a:lnTo>
                <a:lnTo>
                  <a:pt x="537308" y="495667"/>
                </a:lnTo>
                <a:lnTo>
                  <a:pt x="0" y="495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555489" y="-127432"/>
            <a:ext cx="9699489" cy="10541864"/>
            <a:chOff x="0" y="0"/>
            <a:chExt cx="2554598" cy="27764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54598" cy="2776458"/>
            </a:xfrm>
            <a:custGeom>
              <a:avLst/>
              <a:gdLst/>
              <a:ahLst/>
              <a:cxnLst/>
              <a:rect l="l" t="t" r="r" b="b"/>
              <a:pathLst>
                <a:path w="2554598" h="2776458">
                  <a:moveTo>
                    <a:pt x="0" y="0"/>
                  </a:moveTo>
                  <a:lnTo>
                    <a:pt x="2554598" y="0"/>
                  </a:lnTo>
                  <a:lnTo>
                    <a:pt x="2554598" y="2776458"/>
                  </a:lnTo>
                  <a:lnTo>
                    <a:pt x="0" y="2776458"/>
                  </a:lnTo>
                  <a:close/>
                </a:path>
              </a:pathLst>
            </a:custGeom>
            <a:gradFill rotWithShape="1">
              <a:gsLst>
                <a:gs pos="0">
                  <a:srgbClr val="0D6676">
                    <a:alpha val="100000"/>
                  </a:srgbClr>
                </a:gs>
                <a:gs pos="100000">
                  <a:srgbClr val="72BD51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2554598" cy="2776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flipV="1">
            <a:off x="-158465" y="-285488"/>
            <a:ext cx="9302465" cy="6731602"/>
          </a:xfrm>
          <a:custGeom>
            <a:avLst/>
            <a:gdLst/>
            <a:ahLst/>
            <a:cxnLst/>
            <a:rect l="l" t="t" r="r" b="b"/>
            <a:pathLst>
              <a:path w="9302465" h="6731602">
                <a:moveTo>
                  <a:pt x="0" y="6731602"/>
                </a:moveTo>
                <a:lnTo>
                  <a:pt x="9302465" y="6731602"/>
                </a:lnTo>
                <a:lnTo>
                  <a:pt x="9302465" y="0"/>
                </a:lnTo>
                <a:lnTo>
                  <a:pt x="0" y="0"/>
                </a:lnTo>
                <a:lnTo>
                  <a:pt x="0" y="673160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V="1">
            <a:off x="7334115" y="1902919"/>
            <a:ext cx="632812" cy="632812"/>
          </a:xfrm>
          <a:custGeom>
            <a:avLst/>
            <a:gdLst/>
            <a:ahLst/>
            <a:cxnLst/>
            <a:rect l="l" t="t" r="r" b="b"/>
            <a:pathLst>
              <a:path w="632812" h="632812">
                <a:moveTo>
                  <a:pt x="0" y="632812"/>
                </a:moveTo>
                <a:lnTo>
                  <a:pt x="632813" y="632812"/>
                </a:lnTo>
                <a:lnTo>
                  <a:pt x="632813" y="0"/>
                </a:lnTo>
                <a:lnTo>
                  <a:pt x="0" y="0"/>
                </a:lnTo>
                <a:lnTo>
                  <a:pt x="0" y="63281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641148" y="7953375"/>
            <a:ext cx="5703240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Hasil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97940" y="1831726"/>
            <a:ext cx="2851620" cy="313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Projek DAA 2025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587443" y="1835246"/>
            <a:ext cx="512238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Hasil Eksekusi Algoritma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663326" y="3023163"/>
            <a:ext cx="6595974" cy="1471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Algoritma diuji pada topologi A → F yang memiliki konflik antara </a:t>
            </a:r>
            <a:r>
              <a:rPr lang="en-US" sz="2799" i="1" u="none" strike="noStrik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hop count</a:t>
            </a:r>
            <a:r>
              <a:rPr lang="en-US" sz="2799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(biaya) dan Kapasitas.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010771F-139B-4F10-76AF-A1B08F2BEC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44369" y="4838700"/>
            <a:ext cx="6714931" cy="4727311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49193" y="1622176"/>
            <a:ext cx="6910107" cy="950016"/>
            <a:chOff x="0" y="0"/>
            <a:chExt cx="1661550" cy="2284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61550" cy="228433"/>
            </a:xfrm>
            <a:custGeom>
              <a:avLst/>
              <a:gdLst/>
              <a:ahLst/>
              <a:cxnLst/>
              <a:rect l="l" t="t" r="r" b="b"/>
              <a:pathLst>
                <a:path w="1661550" h="228433">
                  <a:moveTo>
                    <a:pt x="22408" y="0"/>
                  </a:moveTo>
                  <a:lnTo>
                    <a:pt x="1639142" y="0"/>
                  </a:lnTo>
                  <a:cubicBezTo>
                    <a:pt x="1645085" y="0"/>
                    <a:pt x="1650785" y="2361"/>
                    <a:pt x="1654987" y="6563"/>
                  </a:cubicBezTo>
                  <a:cubicBezTo>
                    <a:pt x="1659189" y="10765"/>
                    <a:pt x="1661550" y="16465"/>
                    <a:pt x="1661550" y="22408"/>
                  </a:cubicBezTo>
                  <a:lnTo>
                    <a:pt x="1661550" y="206026"/>
                  </a:lnTo>
                  <a:cubicBezTo>
                    <a:pt x="1661550" y="211969"/>
                    <a:pt x="1659189" y="217668"/>
                    <a:pt x="1654987" y="221870"/>
                  </a:cubicBezTo>
                  <a:cubicBezTo>
                    <a:pt x="1650785" y="226072"/>
                    <a:pt x="1645085" y="228433"/>
                    <a:pt x="1639142" y="228433"/>
                  </a:cubicBezTo>
                  <a:lnTo>
                    <a:pt x="22408" y="228433"/>
                  </a:lnTo>
                  <a:cubicBezTo>
                    <a:pt x="16465" y="228433"/>
                    <a:pt x="10765" y="226072"/>
                    <a:pt x="6563" y="221870"/>
                  </a:cubicBezTo>
                  <a:cubicBezTo>
                    <a:pt x="2361" y="217668"/>
                    <a:pt x="0" y="211969"/>
                    <a:pt x="0" y="206026"/>
                  </a:cubicBezTo>
                  <a:lnTo>
                    <a:pt x="0" y="22408"/>
                  </a:lnTo>
                  <a:cubicBezTo>
                    <a:pt x="0" y="16465"/>
                    <a:pt x="2361" y="10765"/>
                    <a:pt x="6563" y="6563"/>
                  </a:cubicBezTo>
                  <a:cubicBezTo>
                    <a:pt x="10765" y="2361"/>
                    <a:pt x="16465" y="0"/>
                    <a:pt x="22408" y="0"/>
                  </a:cubicBezTo>
                  <a:close/>
                </a:path>
              </a:pathLst>
            </a:custGeom>
            <a:solidFill>
              <a:srgbClr val="0D667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661550" cy="228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663326" y="1849350"/>
            <a:ext cx="537309" cy="495667"/>
          </a:xfrm>
          <a:custGeom>
            <a:avLst/>
            <a:gdLst/>
            <a:ahLst/>
            <a:cxnLst/>
            <a:rect l="l" t="t" r="r" b="b"/>
            <a:pathLst>
              <a:path w="537309" h="495667">
                <a:moveTo>
                  <a:pt x="0" y="0"/>
                </a:moveTo>
                <a:lnTo>
                  <a:pt x="537308" y="0"/>
                </a:lnTo>
                <a:lnTo>
                  <a:pt x="537308" y="495667"/>
                </a:lnTo>
                <a:lnTo>
                  <a:pt x="0" y="495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597940" y="2602406"/>
            <a:ext cx="8708046" cy="116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00"/>
              </a:lnSpc>
            </a:pPr>
            <a:r>
              <a:rPr lang="en-US" sz="8100" b="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Perbandingan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-3821045" y="-48404"/>
            <a:ext cx="9699489" cy="10541864"/>
            <a:chOff x="0" y="0"/>
            <a:chExt cx="2554598" cy="277645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54598" cy="2776458"/>
            </a:xfrm>
            <a:custGeom>
              <a:avLst/>
              <a:gdLst/>
              <a:ahLst/>
              <a:cxnLst/>
              <a:rect l="l" t="t" r="r" b="b"/>
              <a:pathLst>
                <a:path w="2554598" h="2776458">
                  <a:moveTo>
                    <a:pt x="0" y="0"/>
                  </a:moveTo>
                  <a:lnTo>
                    <a:pt x="2554598" y="0"/>
                  </a:lnTo>
                  <a:lnTo>
                    <a:pt x="2554598" y="2776458"/>
                  </a:lnTo>
                  <a:lnTo>
                    <a:pt x="0" y="2776458"/>
                  </a:lnTo>
                  <a:close/>
                </a:path>
              </a:pathLst>
            </a:custGeom>
            <a:gradFill rotWithShape="1">
              <a:gsLst>
                <a:gs pos="0">
                  <a:srgbClr val="0D6676">
                    <a:alpha val="100000"/>
                  </a:srgbClr>
                </a:gs>
                <a:gs pos="100000">
                  <a:srgbClr val="72BD51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2554598" cy="2776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flipV="1">
            <a:off x="-3424020" y="-206460"/>
            <a:ext cx="9302465" cy="6731602"/>
          </a:xfrm>
          <a:custGeom>
            <a:avLst/>
            <a:gdLst/>
            <a:ahLst/>
            <a:cxnLst/>
            <a:rect l="l" t="t" r="r" b="b"/>
            <a:pathLst>
              <a:path w="9302465" h="6731602">
                <a:moveTo>
                  <a:pt x="0" y="6731602"/>
                </a:moveTo>
                <a:lnTo>
                  <a:pt x="9302465" y="6731602"/>
                </a:lnTo>
                <a:lnTo>
                  <a:pt x="9302465" y="0"/>
                </a:lnTo>
                <a:lnTo>
                  <a:pt x="0" y="0"/>
                </a:lnTo>
                <a:lnTo>
                  <a:pt x="0" y="673160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V="1">
            <a:off x="7334115" y="1902919"/>
            <a:ext cx="632812" cy="632812"/>
          </a:xfrm>
          <a:custGeom>
            <a:avLst/>
            <a:gdLst/>
            <a:ahLst/>
            <a:cxnLst/>
            <a:rect l="l" t="t" r="r" b="b"/>
            <a:pathLst>
              <a:path w="632812" h="632812">
                <a:moveTo>
                  <a:pt x="0" y="632812"/>
                </a:moveTo>
                <a:lnTo>
                  <a:pt x="632813" y="632812"/>
                </a:lnTo>
                <a:lnTo>
                  <a:pt x="632813" y="0"/>
                </a:lnTo>
                <a:lnTo>
                  <a:pt x="0" y="0"/>
                </a:lnTo>
                <a:lnTo>
                  <a:pt x="0" y="63281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597940" y="2602406"/>
            <a:ext cx="8708046" cy="116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00"/>
              </a:lnSpc>
            </a:pPr>
            <a:r>
              <a:rPr lang="en-US" sz="81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Perband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97940" y="1831726"/>
            <a:ext cx="2851620" cy="313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Projek DAA 2025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587443" y="1835246"/>
            <a:ext cx="512238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Kinerja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663326" y="3023163"/>
            <a:ext cx="6595974" cy="1471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</a:t>
            </a:r>
            <a:r>
              <a:rPr lang="en-US" sz="2799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rbandingan menunjukkan disparitas kinerja yang signifikan dalam konteks </a:t>
            </a:r>
            <a:r>
              <a:rPr lang="en-US" sz="2799" i="1" u="none" strike="noStrik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throughput</a:t>
            </a:r>
            <a:r>
              <a:rPr lang="en-US" sz="2799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FA2289F-DF16-8BA9-1DEB-7FDAC171C2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17371" y="4946064"/>
            <a:ext cx="10093403" cy="4388436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72096" y="3280171"/>
            <a:ext cx="9916096" cy="7763593"/>
            <a:chOff x="0" y="0"/>
            <a:chExt cx="2611647" cy="20447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11647" cy="2044732"/>
            </a:xfrm>
            <a:custGeom>
              <a:avLst/>
              <a:gdLst/>
              <a:ahLst/>
              <a:cxnLst/>
              <a:rect l="l" t="t" r="r" b="b"/>
              <a:pathLst>
                <a:path w="2611647" h="2044732">
                  <a:moveTo>
                    <a:pt x="78074" y="0"/>
                  </a:moveTo>
                  <a:lnTo>
                    <a:pt x="2533572" y="0"/>
                  </a:lnTo>
                  <a:cubicBezTo>
                    <a:pt x="2576692" y="0"/>
                    <a:pt x="2611647" y="34955"/>
                    <a:pt x="2611647" y="78074"/>
                  </a:cubicBezTo>
                  <a:lnTo>
                    <a:pt x="2611647" y="1966658"/>
                  </a:lnTo>
                  <a:cubicBezTo>
                    <a:pt x="2611647" y="1987365"/>
                    <a:pt x="2603421" y="2007223"/>
                    <a:pt x="2588779" y="2021865"/>
                  </a:cubicBezTo>
                  <a:cubicBezTo>
                    <a:pt x="2574138" y="2036507"/>
                    <a:pt x="2554279" y="2044732"/>
                    <a:pt x="2533572" y="2044732"/>
                  </a:cubicBezTo>
                  <a:lnTo>
                    <a:pt x="78074" y="2044732"/>
                  </a:lnTo>
                  <a:cubicBezTo>
                    <a:pt x="34955" y="2044732"/>
                    <a:pt x="0" y="2009777"/>
                    <a:pt x="0" y="1966658"/>
                  </a:cubicBezTo>
                  <a:lnTo>
                    <a:pt x="0" y="78074"/>
                  </a:lnTo>
                  <a:cubicBezTo>
                    <a:pt x="0" y="57368"/>
                    <a:pt x="8226" y="37509"/>
                    <a:pt x="22867" y="22867"/>
                  </a:cubicBezTo>
                  <a:cubicBezTo>
                    <a:pt x="37509" y="8226"/>
                    <a:pt x="57368" y="0"/>
                    <a:pt x="7807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6676">
                    <a:alpha val="100000"/>
                  </a:srgbClr>
                </a:gs>
                <a:gs pos="100000">
                  <a:srgbClr val="72BD51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611647" cy="20447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65174" y="-760640"/>
            <a:ext cx="9529617" cy="4040811"/>
            <a:chOff x="0" y="0"/>
            <a:chExt cx="2509858" cy="106424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09858" cy="1064246"/>
            </a:xfrm>
            <a:custGeom>
              <a:avLst/>
              <a:gdLst/>
              <a:ahLst/>
              <a:cxnLst/>
              <a:rect l="l" t="t" r="r" b="b"/>
              <a:pathLst>
                <a:path w="2509858" h="1064246">
                  <a:moveTo>
                    <a:pt x="81241" y="0"/>
                  </a:moveTo>
                  <a:lnTo>
                    <a:pt x="2428617" y="0"/>
                  </a:lnTo>
                  <a:cubicBezTo>
                    <a:pt x="2450164" y="0"/>
                    <a:pt x="2470828" y="8559"/>
                    <a:pt x="2486063" y="23795"/>
                  </a:cubicBezTo>
                  <a:cubicBezTo>
                    <a:pt x="2501299" y="39030"/>
                    <a:pt x="2509858" y="59694"/>
                    <a:pt x="2509858" y="81241"/>
                  </a:cubicBezTo>
                  <a:lnTo>
                    <a:pt x="2509858" y="983006"/>
                  </a:lnTo>
                  <a:cubicBezTo>
                    <a:pt x="2509858" y="1004552"/>
                    <a:pt x="2501299" y="1025216"/>
                    <a:pt x="2486063" y="1040452"/>
                  </a:cubicBezTo>
                  <a:cubicBezTo>
                    <a:pt x="2470828" y="1055687"/>
                    <a:pt x="2450164" y="1064246"/>
                    <a:pt x="2428617" y="1064246"/>
                  </a:cubicBezTo>
                  <a:lnTo>
                    <a:pt x="81241" y="1064246"/>
                  </a:lnTo>
                  <a:cubicBezTo>
                    <a:pt x="59694" y="1064246"/>
                    <a:pt x="39030" y="1055687"/>
                    <a:pt x="23795" y="1040452"/>
                  </a:cubicBezTo>
                  <a:cubicBezTo>
                    <a:pt x="8559" y="1025216"/>
                    <a:pt x="0" y="1004552"/>
                    <a:pt x="0" y="983006"/>
                  </a:cubicBezTo>
                  <a:lnTo>
                    <a:pt x="0" y="81241"/>
                  </a:lnTo>
                  <a:cubicBezTo>
                    <a:pt x="0" y="59694"/>
                    <a:pt x="8559" y="39030"/>
                    <a:pt x="23795" y="23795"/>
                  </a:cubicBezTo>
                  <a:cubicBezTo>
                    <a:pt x="39030" y="8559"/>
                    <a:pt x="59694" y="0"/>
                    <a:pt x="8124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6676">
                    <a:alpha val="100000"/>
                  </a:srgbClr>
                </a:gs>
                <a:gs pos="100000">
                  <a:srgbClr val="72BD51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509858" cy="10642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 flipV="1">
            <a:off x="10933650" y="1259765"/>
            <a:ext cx="632812" cy="632812"/>
          </a:xfrm>
          <a:custGeom>
            <a:avLst/>
            <a:gdLst/>
            <a:ahLst/>
            <a:cxnLst/>
            <a:rect l="l" t="t" r="r" b="b"/>
            <a:pathLst>
              <a:path w="632812" h="632812">
                <a:moveTo>
                  <a:pt x="632813" y="632813"/>
                </a:moveTo>
                <a:lnTo>
                  <a:pt x="0" y="632813"/>
                </a:lnTo>
                <a:lnTo>
                  <a:pt x="0" y="0"/>
                </a:lnTo>
                <a:lnTo>
                  <a:pt x="632813" y="0"/>
                </a:lnTo>
                <a:lnTo>
                  <a:pt x="632813" y="6328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 flipV="1">
            <a:off x="15115180" y="0"/>
            <a:ext cx="3172820" cy="3280171"/>
          </a:xfrm>
          <a:custGeom>
            <a:avLst/>
            <a:gdLst/>
            <a:ahLst/>
            <a:cxnLst/>
            <a:rect l="l" t="t" r="r" b="b"/>
            <a:pathLst>
              <a:path w="3172820" h="3280171">
                <a:moveTo>
                  <a:pt x="0" y="3280171"/>
                </a:moveTo>
                <a:lnTo>
                  <a:pt x="3172820" y="3280171"/>
                </a:lnTo>
                <a:lnTo>
                  <a:pt x="3172820" y="0"/>
                </a:lnTo>
                <a:lnTo>
                  <a:pt x="0" y="0"/>
                </a:lnTo>
                <a:lnTo>
                  <a:pt x="0" y="328017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409700" y="1095375"/>
            <a:ext cx="7618244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Kesimpulan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09700" y="5240898"/>
            <a:ext cx="4266987" cy="906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9"/>
              </a:lnSpc>
            </a:pPr>
            <a:r>
              <a:rPr lang="en-US" sz="3099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Keterbatasan Shortest Path (SPF)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33650" y="5240898"/>
            <a:ext cx="4425185" cy="906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9"/>
              </a:lnSpc>
            </a:pPr>
            <a:r>
              <a:rPr lang="en-US" sz="3099" b="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Efektivitas Bottleneck Path (HBB)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09700" y="4067292"/>
            <a:ext cx="1501094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933650" y="4067292"/>
            <a:ext cx="1266988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02</a:t>
            </a:r>
          </a:p>
        </p:txBody>
      </p:sp>
      <p:sp>
        <p:nvSpPr>
          <p:cNvPr id="15" name="Freeform 15"/>
          <p:cNvSpPr/>
          <p:nvPr/>
        </p:nvSpPr>
        <p:spPr>
          <a:xfrm flipV="1">
            <a:off x="0" y="6126723"/>
            <a:ext cx="3145041" cy="5102573"/>
          </a:xfrm>
          <a:custGeom>
            <a:avLst/>
            <a:gdLst/>
            <a:ahLst/>
            <a:cxnLst/>
            <a:rect l="l" t="t" r="r" b="b"/>
            <a:pathLst>
              <a:path w="3145041" h="5102573">
                <a:moveTo>
                  <a:pt x="0" y="5102574"/>
                </a:moveTo>
                <a:lnTo>
                  <a:pt x="3145041" y="5102574"/>
                </a:lnTo>
                <a:lnTo>
                  <a:pt x="3145041" y="0"/>
                </a:lnTo>
                <a:lnTo>
                  <a:pt x="0" y="0"/>
                </a:lnTo>
                <a:lnTo>
                  <a:pt x="0" y="510257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409700" y="6590811"/>
            <a:ext cx="6850768" cy="351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Masalah: Algoritma SPF (Dijkstra) terbukti memiliki keterbatasan fatal dalam skenario transfer data bervolume besar.</a:t>
            </a:r>
          </a:p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Penyebab: SPF hanya mencari rute terpendek (2 hop) berdasarkan metrik aditif (cost) dan mengabaikan kapasitas.</a:t>
            </a:r>
          </a:p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Dampak: Lalu lintas data terjebak pada jalur bottleneck, menyebabkan throughput jatuh drastis ke 10 Mbps.</a:t>
            </a:r>
          </a:p>
          <a:p>
            <a:pPr algn="l">
              <a:lnSpc>
                <a:spcPts val="2799"/>
              </a:lnSpc>
            </a:pPr>
            <a:endParaRPr lang="en-US" sz="19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933650" y="6581286"/>
            <a:ext cx="6119252" cy="3168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5" lvl="1" indent="-215903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Keunggulan: Algoritma HBB berhasil mengubah paradigma, tidak lagi terpatok pada jarak, melainkan memilih jalur dengan kapasitas terbesar (Jalan Lebar).</a:t>
            </a:r>
          </a:p>
          <a:p>
            <a:pPr marL="431805" lvl="1" indent="-215903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Aksi: HBB memilih rute yang lebih panjang (4 hop) namun stabil.</a:t>
            </a:r>
          </a:p>
          <a:p>
            <a:pPr marL="431805" lvl="1" indent="-215903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Dampak Kinerja: Throughput yang dihasilkan mencapai 500 Mbps.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3471463" y="1197253"/>
            <a:ext cx="170466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Projek DAA 2025</a:t>
            </a:r>
          </a:p>
        </p:txBody>
      </p:sp>
    </p:spTree>
  </p:cSld>
  <p:clrMapOvr>
    <a:masterClrMapping/>
  </p:clrMapOvr>
  <p:transition spd="slow">
    <p:cover dir="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72096" y="3280171"/>
            <a:ext cx="9916096" cy="7763593"/>
            <a:chOff x="0" y="0"/>
            <a:chExt cx="2611647" cy="20447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11647" cy="2044732"/>
            </a:xfrm>
            <a:custGeom>
              <a:avLst/>
              <a:gdLst/>
              <a:ahLst/>
              <a:cxnLst/>
              <a:rect l="l" t="t" r="r" b="b"/>
              <a:pathLst>
                <a:path w="2611647" h="2044732">
                  <a:moveTo>
                    <a:pt x="78074" y="0"/>
                  </a:moveTo>
                  <a:lnTo>
                    <a:pt x="2533572" y="0"/>
                  </a:lnTo>
                  <a:cubicBezTo>
                    <a:pt x="2576692" y="0"/>
                    <a:pt x="2611647" y="34955"/>
                    <a:pt x="2611647" y="78074"/>
                  </a:cubicBezTo>
                  <a:lnTo>
                    <a:pt x="2611647" y="1966658"/>
                  </a:lnTo>
                  <a:cubicBezTo>
                    <a:pt x="2611647" y="1987365"/>
                    <a:pt x="2603421" y="2007223"/>
                    <a:pt x="2588779" y="2021865"/>
                  </a:cubicBezTo>
                  <a:cubicBezTo>
                    <a:pt x="2574138" y="2036507"/>
                    <a:pt x="2554279" y="2044732"/>
                    <a:pt x="2533572" y="2044732"/>
                  </a:cubicBezTo>
                  <a:lnTo>
                    <a:pt x="78074" y="2044732"/>
                  </a:lnTo>
                  <a:cubicBezTo>
                    <a:pt x="34955" y="2044732"/>
                    <a:pt x="0" y="2009777"/>
                    <a:pt x="0" y="1966658"/>
                  </a:cubicBezTo>
                  <a:lnTo>
                    <a:pt x="0" y="78074"/>
                  </a:lnTo>
                  <a:cubicBezTo>
                    <a:pt x="0" y="57368"/>
                    <a:pt x="8226" y="37509"/>
                    <a:pt x="22867" y="22867"/>
                  </a:cubicBezTo>
                  <a:cubicBezTo>
                    <a:pt x="37509" y="8226"/>
                    <a:pt x="57368" y="0"/>
                    <a:pt x="7807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6676">
                    <a:alpha val="100000"/>
                  </a:srgbClr>
                </a:gs>
                <a:gs pos="100000">
                  <a:srgbClr val="72BD51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611647" cy="20447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65174" y="-760640"/>
            <a:ext cx="9529617" cy="4040811"/>
            <a:chOff x="0" y="0"/>
            <a:chExt cx="2509858" cy="106424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09858" cy="1064246"/>
            </a:xfrm>
            <a:custGeom>
              <a:avLst/>
              <a:gdLst/>
              <a:ahLst/>
              <a:cxnLst/>
              <a:rect l="l" t="t" r="r" b="b"/>
              <a:pathLst>
                <a:path w="2509858" h="1064246">
                  <a:moveTo>
                    <a:pt x="81241" y="0"/>
                  </a:moveTo>
                  <a:lnTo>
                    <a:pt x="2428617" y="0"/>
                  </a:lnTo>
                  <a:cubicBezTo>
                    <a:pt x="2450164" y="0"/>
                    <a:pt x="2470828" y="8559"/>
                    <a:pt x="2486063" y="23795"/>
                  </a:cubicBezTo>
                  <a:cubicBezTo>
                    <a:pt x="2501299" y="39030"/>
                    <a:pt x="2509858" y="59694"/>
                    <a:pt x="2509858" y="81241"/>
                  </a:cubicBezTo>
                  <a:lnTo>
                    <a:pt x="2509858" y="983006"/>
                  </a:lnTo>
                  <a:cubicBezTo>
                    <a:pt x="2509858" y="1004552"/>
                    <a:pt x="2501299" y="1025216"/>
                    <a:pt x="2486063" y="1040452"/>
                  </a:cubicBezTo>
                  <a:cubicBezTo>
                    <a:pt x="2470828" y="1055687"/>
                    <a:pt x="2450164" y="1064246"/>
                    <a:pt x="2428617" y="1064246"/>
                  </a:cubicBezTo>
                  <a:lnTo>
                    <a:pt x="81241" y="1064246"/>
                  </a:lnTo>
                  <a:cubicBezTo>
                    <a:pt x="59694" y="1064246"/>
                    <a:pt x="39030" y="1055687"/>
                    <a:pt x="23795" y="1040452"/>
                  </a:cubicBezTo>
                  <a:cubicBezTo>
                    <a:pt x="8559" y="1025216"/>
                    <a:pt x="0" y="1004552"/>
                    <a:pt x="0" y="983006"/>
                  </a:cubicBezTo>
                  <a:lnTo>
                    <a:pt x="0" y="81241"/>
                  </a:lnTo>
                  <a:cubicBezTo>
                    <a:pt x="0" y="59694"/>
                    <a:pt x="8559" y="39030"/>
                    <a:pt x="23795" y="23795"/>
                  </a:cubicBezTo>
                  <a:cubicBezTo>
                    <a:pt x="39030" y="8559"/>
                    <a:pt x="59694" y="0"/>
                    <a:pt x="8124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6676">
                    <a:alpha val="100000"/>
                  </a:srgbClr>
                </a:gs>
                <a:gs pos="100000">
                  <a:srgbClr val="72BD51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509858" cy="10642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 flipV="1">
            <a:off x="10933650" y="1259765"/>
            <a:ext cx="632812" cy="632812"/>
          </a:xfrm>
          <a:custGeom>
            <a:avLst/>
            <a:gdLst/>
            <a:ahLst/>
            <a:cxnLst/>
            <a:rect l="l" t="t" r="r" b="b"/>
            <a:pathLst>
              <a:path w="632812" h="632812">
                <a:moveTo>
                  <a:pt x="632813" y="632813"/>
                </a:moveTo>
                <a:lnTo>
                  <a:pt x="0" y="632813"/>
                </a:lnTo>
                <a:lnTo>
                  <a:pt x="0" y="0"/>
                </a:lnTo>
                <a:lnTo>
                  <a:pt x="632813" y="0"/>
                </a:lnTo>
                <a:lnTo>
                  <a:pt x="632813" y="6328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 flipV="1">
            <a:off x="15115180" y="0"/>
            <a:ext cx="3172820" cy="3280171"/>
          </a:xfrm>
          <a:custGeom>
            <a:avLst/>
            <a:gdLst/>
            <a:ahLst/>
            <a:cxnLst/>
            <a:rect l="l" t="t" r="r" b="b"/>
            <a:pathLst>
              <a:path w="3172820" h="3280171">
                <a:moveTo>
                  <a:pt x="0" y="3280171"/>
                </a:moveTo>
                <a:lnTo>
                  <a:pt x="3172820" y="3280171"/>
                </a:lnTo>
                <a:lnTo>
                  <a:pt x="3172820" y="0"/>
                </a:lnTo>
                <a:lnTo>
                  <a:pt x="0" y="0"/>
                </a:lnTo>
                <a:lnTo>
                  <a:pt x="0" y="328017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409700" y="1095375"/>
            <a:ext cx="7618244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Kesimpulan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09700" y="5240898"/>
            <a:ext cx="4266987" cy="906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9"/>
              </a:lnSpc>
            </a:pPr>
            <a:r>
              <a:rPr lang="en-US" sz="3099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Lonjakan Kinerja dan Trade-off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33650" y="5240898"/>
            <a:ext cx="4425185" cy="906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9"/>
              </a:lnSpc>
            </a:pPr>
            <a:r>
              <a:rPr lang="en-US" sz="3099" b="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Relevansi Masa Depan (SDN)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09700" y="4067292"/>
            <a:ext cx="1501094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933650" y="4067292"/>
            <a:ext cx="1266988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04</a:t>
            </a:r>
          </a:p>
        </p:txBody>
      </p:sp>
      <p:sp>
        <p:nvSpPr>
          <p:cNvPr id="15" name="Freeform 15"/>
          <p:cNvSpPr/>
          <p:nvPr/>
        </p:nvSpPr>
        <p:spPr>
          <a:xfrm flipV="1">
            <a:off x="0" y="6126723"/>
            <a:ext cx="3145041" cy="5102573"/>
          </a:xfrm>
          <a:custGeom>
            <a:avLst/>
            <a:gdLst/>
            <a:ahLst/>
            <a:cxnLst/>
            <a:rect l="l" t="t" r="r" b="b"/>
            <a:pathLst>
              <a:path w="3145041" h="5102573">
                <a:moveTo>
                  <a:pt x="0" y="5102574"/>
                </a:moveTo>
                <a:lnTo>
                  <a:pt x="3145041" y="5102574"/>
                </a:lnTo>
                <a:lnTo>
                  <a:pt x="3145041" y="0"/>
                </a:lnTo>
                <a:lnTo>
                  <a:pt x="0" y="0"/>
                </a:lnTo>
                <a:lnTo>
                  <a:pt x="0" y="510257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409700" y="6590811"/>
            <a:ext cx="6850768" cy="280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Peningkatan Signifikan: Penerapan HBB menghasilkan peningkatan throughput hingga 50 kali lipat dibandingkan SPF (dari 10 Mbps menjadi 500 Mbps).</a:t>
            </a:r>
          </a:p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Implikasi: Untuk kebutuhan transfer data bervolume besar, mengorbankan sedikit latensi (hop count yang lebih banyak) adalah trade-off yang bernilai untuk mencapai kecepatan transfer data maksimal.</a:t>
            </a:r>
          </a:p>
          <a:p>
            <a:pPr algn="l">
              <a:lnSpc>
                <a:spcPts val="2799"/>
              </a:lnSpc>
            </a:pPr>
            <a:endParaRPr lang="en-US" sz="19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933650" y="6581286"/>
            <a:ext cx="6119252" cy="3168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5" lvl="1" indent="-215903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Implementasi: Efektivitas HBB didukung oleh arsitektur Software Defined Network (SDN).</a:t>
            </a:r>
          </a:p>
          <a:p>
            <a:pPr marL="431805" lvl="1" indent="-215903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Peran Controller: Controller SDN, dengan global view (pandangan mata burung) terhadap seluruh jaringan, dapat mendeteksi bottleneck dan secara dinamis mengarahkan lalu lintas data besar ke jalur terlebar, memastikan utilisasi jaringan optimal.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3471463" y="1197253"/>
            <a:ext cx="170466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Projek DAA 2025</a:t>
            </a:r>
          </a:p>
        </p:txBody>
      </p:sp>
    </p:spTree>
  </p:cSld>
  <p:clrMapOvr>
    <a:masterClrMapping/>
  </p:clrMapOvr>
  <p:transition>
    <p:cover dir="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6676">
                <a:alpha val="100000"/>
              </a:srgbClr>
            </a:gs>
            <a:gs pos="100000">
              <a:srgbClr val="72BD51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2428875" y="2858127"/>
            <a:ext cx="12954176" cy="7866718"/>
          </a:xfrm>
          <a:custGeom>
            <a:avLst/>
            <a:gdLst/>
            <a:ahLst/>
            <a:cxnLst/>
            <a:rect l="l" t="t" r="r" b="b"/>
            <a:pathLst>
              <a:path w="12954176" h="7866718">
                <a:moveTo>
                  <a:pt x="0" y="0"/>
                </a:moveTo>
                <a:lnTo>
                  <a:pt x="12954176" y="0"/>
                </a:lnTo>
                <a:lnTo>
                  <a:pt x="12954176" y="7866718"/>
                </a:lnTo>
                <a:lnTo>
                  <a:pt x="0" y="78667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859413" y="0"/>
            <a:ext cx="8428587" cy="10287000"/>
            <a:chOff x="0" y="0"/>
            <a:chExt cx="1662839" cy="202947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62839" cy="2029477"/>
            </a:xfrm>
            <a:custGeom>
              <a:avLst/>
              <a:gdLst/>
              <a:ahLst/>
              <a:cxnLst/>
              <a:rect l="l" t="t" r="r" b="b"/>
              <a:pathLst>
                <a:path w="1662839" h="2029477">
                  <a:moveTo>
                    <a:pt x="0" y="0"/>
                  </a:moveTo>
                  <a:lnTo>
                    <a:pt x="1662839" y="0"/>
                  </a:lnTo>
                  <a:lnTo>
                    <a:pt x="1662839" y="2029477"/>
                  </a:lnTo>
                  <a:lnTo>
                    <a:pt x="0" y="2029477"/>
                  </a:lnTo>
                  <a:close/>
                </a:path>
              </a:pathLst>
            </a:custGeom>
            <a:blipFill>
              <a:blip r:embed="rId4"/>
              <a:stretch>
                <a:fillRect l="-11024" r="-11024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5" name="Freeform 5"/>
          <p:cNvSpPr/>
          <p:nvPr/>
        </p:nvSpPr>
        <p:spPr>
          <a:xfrm flipH="1" flipV="1">
            <a:off x="1409700" y="1259765"/>
            <a:ext cx="632812" cy="632812"/>
          </a:xfrm>
          <a:custGeom>
            <a:avLst/>
            <a:gdLst/>
            <a:ahLst/>
            <a:cxnLst/>
            <a:rect l="l" t="t" r="r" b="b"/>
            <a:pathLst>
              <a:path w="632812" h="632812">
                <a:moveTo>
                  <a:pt x="632812" y="632813"/>
                </a:moveTo>
                <a:lnTo>
                  <a:pt x="0" y="632813"/>
                </a:lnTo>
                <a:lnTo>
                  <a:pt x="0" y="0"/>
                </a:lnTo>
                <a:lnTo>
                  <a:pt x="632812" y="0"/>
                </a:lnTo>
                <a:lnTo>
                  <a:pt x="632812" y="632813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409700" y="2905752"/>
            <a:ext cx="8103620" cy="244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Sekian Dan</a:t>
            </a:r>
          </a:p>
          <a:p>
            <a:pPr algn="l">
              <a:lnSpc>
                <a:spcPts val="9000"/>
              </a:lnSpc>
            </a:pPr>
            <a:r>
              <a:rPr lang="en-US" sz="90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Terima Kasih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09700" y="8069595"/>
            <a:ext cx="2890406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Projek DAA 2025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98371" y="8050545"/>
            <a:ext cx="2677201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Disusun oleh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98371" y="8431545"/>
            <a:ext cx="3639510" cy="125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Kelompok 7</a:t>
            </a:r>
          </a:p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DAA Kelas C</a:t>
            </a:r>
          </a:p>
          <a:p>
            <a:pPr algn="l">
              <a:lnSpc>
                <a:spcPts val="3360"/>
              </a:lnSpc>
            </a:pPr>
            <a:r>
              <a:rPr lang="en-US" sz="2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Informatika UNS</a:t>
            </a:r>
          </a:p>
        </p:txBody>
      </p:sp>
    </p:spTree>
  </p:cSld>
  <p:clrMapOvr>
    <a:masterClrMapping/>
  </p:clrMapOvr>
  <p:transition>
    <p:circl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802</Words>
  <Application>Microsoft Office PowerPoint</Application>
  <PresentationFormat>Custom</PresentationFormat>
  <Paragraphs>138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Telegraf Bold</vt:lpstr>
      <vt:lpstr>Open Sans Italics</vt:lpstr>
      <vt:lpstr>Open Sans Bold</vt:lpstr>
      <vt:lpstr>Telegraf</vt:lpstr>
      <vt:lpstr>Calibri</vt:lpstr>
      <vt:lpstr>Open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 DAA 2025</dc:title>
  <cp:lastModifiedBy>Daffa Dewanda</cp:lastModifiedBy>
  <cp:revision>2</cp:revision>
  <dcterms:created xsi:type="dcterms:W3CDTF">2006-08-16T00:00:00Z</dcterms:created>
  <dcterms:modified xsi:type="dcterms:W3CDTF">2025-12-16T16:04:01Z</dcterms:modified>
  <dc:identifier>DAG7rB9TvNQ</dc:identifier>
</cp:coreProperties>
</file>